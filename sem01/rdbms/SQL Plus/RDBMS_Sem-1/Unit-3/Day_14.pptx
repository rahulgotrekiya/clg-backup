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F09B99-17AF-40BD-88B7-0D101781E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11EE29C-FA49-4F62-85D0-71E5CC290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7AAB58-91A0-429A-8C84-D9FDBB51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178C30B-C47D-49AD-B22B-7DE54A5B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8BAFE88-9203-46BA-A3BB-7C843C27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99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EA6EE1-DEC2-41B1-BFAC-3C2A4738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8AB216-AE2D-44F8-A7CD-50343EB85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6754053-8A96-4796-A37B-3C382CBE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D7E5BD-460C-4227-A7FF-925B7ED1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42E107-D57B-4FB5-A13F-B3E80788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3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D29EAD-C73C-42F0-B0CF-B1F26097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D2D6873-0637-4438-974C-3BE978E76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6C0F94-96B4-4DA3-9F4A-1594D070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F58828-804D-46DA-993F-53BBA074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DEA3848-F581-45F8-963B-BBA3102E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5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FCCD0B-CFAC-4E65-9D95-D51FCF11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F3642D-457D-463F-8492-1EE6539FB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6CC6190-5EF9-4669-B072-7EF7D62D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54D8A78-2C70-4BDD-A463-153D0CAC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032B8CB-8AD4-4179-97FF-8BA3E6BE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C89513-EC6D-4829-8D1C-8379B01A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8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45C0E6-E5BA-4D7D-A490-62F5C71C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68713E8-AFC9-4424-AB9D-D2B3C9FCA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6ABD43C-AC3F-45FD-9CE8-199E92460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6240BFA-46A6-431F-8620-4EF566AC4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F7E6C50-9DAE-4EEC-8B6F-58D0ACF27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5E0FE57-03C0-4247-ADBC-01E8EB7A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019725D-F195-4819-B082-FD93E57A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B2F8447-C4C3-4AF4-A369-3C8D2181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53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38B471-8A38-4CD3-9FC5-6C1ECAB4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28B6334-411C-4995-B424-6F306F4EF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E531433-72A9-4075-AF52-DD773FAF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1BA2FAB-B01F-4923-A224-06CEAAAD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23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67B46C9-B45A-4483-9290-6391C331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215079E-50AE-4197-8303-81291A19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A206434-27F5-4A3B-906F-652A2DC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86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1F345D-39BA-497D-90E8-67C8E0C0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2946A8-DE7D-4D74-8DDA-46769DDF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7779FCC-BA9A-44FE-8C9C-2C8B631E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F15527F-5C4C-4AEC-8884-CF143323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4A550F8-CFE6-4E15-A76C-C56E7FBA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CC1C07-8E43-403E-A54B-188D64C8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73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63FCD3-E4E4-48D1-BD72-7DBC4C5E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471809A-61B4-4F5C-AE92-838E20C56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C859F58-8E53-4C1F-A5CD-48AAEC170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AE79118-E505-4E56-BCE5-F689A51A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D68D863-5FF6-4AD0-94D5-F9A7308E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7DA4BF4-DED3-450F-A203-158E1679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6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6829D7-8163-4717-8B68-5EB80E3C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FE43578-C3CF-4F53-9F80-5A16895DF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C0A0E7-37A2-445C-875C-35EB5234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D380EC-1CD4-4457-A638-F7678D50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B853010-1C1B-4551-9FA0-4B3C64AA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9F192F2-6C6B-48FB-B6EC-AD056B04C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5878D78-D511-4CB7-9E2A-F58C8C82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4BDF6B-9630-47A4-9B1E-1112226E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FB3DB3-4F6F-4D44-8828-43C82304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6E13EB-236C-4789-BA50-3DB334A3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0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D3BA2CA-E4C3-4EEB-A926-704D7A41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0A3DA8-0039-4CE8-BEA3-6A1EE3D99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F5DA9A-92F2-41C2-B260-3A8488330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D778C-81F7-410C-A7F4-7ED7AC655196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47163A5-08F2-47C1-B3C5-0BDD6BF56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EDFCDA2-6389-4908-8561-BD248B8F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49A4D-18A1-4032-A1CD-6C115136A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EC835C-5594-4BF9-8E65-7A5366EA5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- 3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8133F90-4B17-49C5-9CB6-FCF78A634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324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0E5EB8-E263-4173-A607-3BFEFA75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Normalisation Example - 1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A2D30E9F-E587-4202-B504-6843BD4BD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79621"/>
              </p:ext>
            </p:extLst>
          </p:nvPr>
        </p:nvGraphicFramePr>
        <p:xfrm>
          <a:off x="838200" y="1690687"/>
          <a:ext cx="10515598" cy="3851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561">
                  <a:extLst>
                    <a:ext uri="{9D8B030D-6E8A-4147-A177-3AD203B41FA5}">
                      <a16:colId xmlns="" xmlns:a16="http://schemas.microsoft.com/office/drawing/2014/main" val="3150134042"/>
                    </a:ext>
                  </a:extLst>
                </a:gridCol>
                <a:gridCol w="2628561">
                  <a:extLst>
                    <a:ext uri="{9D8B030D-6E8A-4147-A177-3AD203B41FA5}">
                      <a16:colId xmlns="" xmlns:a16="http://schemas.microsoft.com/office/drawing/2014/main" val="3470025561"/>
                    </a:ext>
                  </a:extLst>
                </a:gridCol>
                <a:gridCol w="2628561">
                  <a:extLst>
                    <a:ext uri="{9D8B030D-6E8A-4147-A177-3AD203B41FA5}">
                      <a16:colId xmlns="" xmlns:a16="http://schemas.microsoft.com/office/drawing/2014/main" val="460350976"/>
                    </a:ext>
                  </a:extLst>
                </a:gridCol>
                <a:gridCol w="2629915">
                  <a:extLst>
                    <a:ext uri="{9D8B030D-6E8A-4147-A177-3AD203B41FA5}">
                      <a16:colId xmlns="" xmlns:a16="http://schemas.microsoft.com/office/drawing/2014/main" val="1784508973"/>
                    </a:ext>
                  </a:extLst>
                </a:gridCol>
              </a:tblGrid>
              <a:tr h="67724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 err="1">
                          <a:effectLst/>
                        </a:rPr>
                        <a:t>Dept_Name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 err="1">
                          <a:effectLst/>
                        </a:rPr>
                        <a:t>D_No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 err="1">
                          <a:effectLst/>
                        </a:rPr>
                        <a:t>D_Mgr_SSN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Dept_Location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145453032"/>
                  </a:ext>
                </a:extLst>
              </a:tr>
              <a:tr h="111165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Research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5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501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Banglore, Kolkota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76431862"/>
                  </a:ext>
                </a:extLst>
              </a:tr>
              <a:tr h="67724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Administration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4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401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Delhi, Mumbai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63179607"/>
                  </a:ext>
                </a:extLst>
              </a:tr>
              <a:tr h="13858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Sales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1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101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Ahmedabad, </a:t>
                      </a:r>
                      <a:r>
                        <a:rPr lang="en-IN" sz="2800" dirty="0" err="1">
                          <a:effectLst/>
                        </a:rPr>
                        <a:t>Banglore</a:t>
                      </a:r>
                      <a:r>
                        <a:rPr lang="en-IN" sz="2800" dirty="0">
                          <a:effectLst/>
                        </a:rPr>
                        <a:t>, Delhi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12418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2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8F3B12-3BBE-436C-9857-4C60604C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0E61EA99-8702-40EE-859F-B3D81F8C7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78203"/>
              </p:ext>
            </p:extLst>
          </p:nvPr>
        </p:nvGraphicFramePr>
        <p:xfrm>
          <a:off x="838200" y="1589648"/>
          <a:ext cx="10515601" cy="4698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7043">
                  <a:extLst>
                    <a:ext uri="{9D8B030D-6E8A-4147-A177-3AD203B41FA5}">
                      <a16:colId xmlns="" xmlns:a16="http://schemas.microsoft.com/office/drawing/2014/main" val="3596305605"/>
                    </a:ext>
                  </a:extLst>
                </a:gridCol>
                <a:gridCol w="1370424">
                  <a:extLst>
                    <a:ext uri="{9D8B030D-6E8A-4147-A177-3AD203B41FA5}">
                      <a16:colId xmlns="" xmlns:a16="http://schemas.microsoft.com/office/drawing/2014/main" val="3538216323"/>
                    </a:ext>
                  </a:extLst>
                </a:gridCol>
                <a:gridCol w="1731631">
                  <a:extLst>
                    <a:ext uri="{9D8B030D-6E8A-4147-A177-3AD203B41FA5}">
                      <a16:colId xmlns="" xmlns:a16="http://schemas.microsoft.com/office/drawing/2014/main" val="4018596971"/>
                    </a:ext>
                  </a:extLst>
                </a:gridCol>
                <a:gridCol w="1914264">
                  <a:extLst>
                    <a:ext uri="{9D8B030D-6E8A-4147-A177-3AD203B41FA5}">
                      <a16:colId xmlns="" xmlns:a16="http://schemas.microsoft.com/office/drawing/2014/main" val="671565440"/>
                    </a:ext>
                  </a:extLst>
                </a:gridCol>
                <a:gridCol w="2014374">
                  <a:extLst>
                    <a:ext uri="{9D8B030D-6E8A-4147-A177-3AD203B41FA5}">
                      <a16:colId xmlns="" xmlns:a16="http://schemas.microsoft.com/office/drawing/2014/main" val="666885990"/>
                    </a:ext>
                  </a:extLst>
                </a:gridCol>
                <a:gridCol w="1747865">
                  <a:extLst>
                    <a:ext uri="{9D8B030D-6E8A-4147-A177-3AD203B41FA5}">
                      <a16:colId xmlns="" xmlns:a16="http://schemas.microsoft.com/office/drawing/2014/main" val="3691872462"/>
                    </a:ext>
                  </a:extLst>
                </a:gridCol>
              </a:tblGrid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effectLst/>
                        </a:rPr>
                        <a:t>SSN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Proj_No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Emp_Hours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Emp_Name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Proj_Name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Proj_Loc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611361742"/>
                  </a:ext>
                </a:extLst>
              </a:tr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101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P1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20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Ankit Shah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Renovation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Bopal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53759996"/>
                  </a:ext>
                </a:extLst>
              </a:tr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101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P2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50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Ankit Shah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Construction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Ghuma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00085850"/>
                  </a:ext>
                </a:extLst>
              </a:tr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102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P2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70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Ankit Shah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Construction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 err="1">
                          <a:effectLst/>
                        </a:rPr>
                        <a:t>Bopal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564513309"/>
                  </a:ext>
                </a:extLst>
              </a:tr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103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P2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40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Bhumi Patel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Construction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Sarkhej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67391304"/>
                  </a:ext>
                </a:extLst>
              </a:tr>
              <a:tr h="7831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103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P3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30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Bhumi Patel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effectLst/>
                        </a:rPr>
                        <a:t>Designing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effectLst/>
                        </a:rPr>
                        <a:t>Maninagar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508372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50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First Normal Form (1NF)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table already has atomic values (no repeating groups or multivalued attributes).</a:t>
            </a:r>
          </a:p>
          <a:p>
            <a:r>
              <a:rPr lang="en-US" dirty="0"/>
              <a:t>So the table is in </a:t>
            </a:r>
            <a:r>
              <a:rPr lang="en-US" b="1" dirty="0"/>
              <a:t>1NF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60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Second Normal Form (2NF)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Candidate </a:t>
            </a:r>
            <a:r>
              <a:rPr lang="en-US" dirty="0"/>
              <a:t>Key = </a:t>
            </a:r>
            <a:r>
              <a:rPr lang="en-US" b="1" dirty="0"/>
              <a:t>(SSN, </a:t>
            </a:r>
            <a:r>
              <a:rPr lang="en-US" b="1" dirty="0" err="1"/>
              <a:t>Proj_No</a:t>
            </a:r>
            <a:r>
              <a:rPr lang="en-US" b="1" dirty="0"/>
              <a:t>)</a:t>
            </a:r>
            <a:r>
              <a:rPr lang="en-US" dirty="0"/>
              <a:t> (because an employee can work on multiple projects, and a project can have multiple employees).</a:t>
            </a:r>
          </a:p>
          <a:p>
            <a:r>
              <a:rPr lang="en-US" dirty="0"/>
              <a:t>Partial dependencies exist:</a:t>
            </a:r>
          </a:p>
          <a:p>
            <a:pPr lvl="1"/>
            <a:r>
              <a:rPr lang="en-US" b="1" dirty="0"/>
              <a:t>SSN → </a:t>
            </a:r>
            <a:r>
              <a:rPr lang="en-US" b="1" dirty="0" err="1"/>
              <a:t>Emp_Name</a:t>
            </a:r>
            <a:endParaRPr lang="en-US" dirty="0"/>
          </a:p>
          <a:p>
            <a:pPr lvl="1"/>
            <a:r>
              <a:rPr lang="en-US" b="1" dirty="0" err="1"/>
              <a:t>Proj_No</a:t>
            </a:r>
            <a:r>
              <a:rPr lang="en-US" b="1" dirty="0"/>
              <a:t> → </a:t>
            </a:r>
            <a:r>
              <a:rPr lang="en-US" b="1" dirty="0" err="1"/>
              <a:t>Proj_Name</a:t>
            </a:r>
            <a:r>
              <a:rPr lang="en-US" b="1" dirty="0"/>
              <a:t>, </a:t>
            </a:r>
            <a:r>
              <a:rPr lang="en-US" b="1" dirty="0" err="1"/>
              <a:t>Proj_Loc</a:t>
            </a:r>
            <a:endParaRPr lang="en-US" dirty="0"/>
          </a:p>
          <a:p>
            <a:r>
              <a:rPr lang="en-US" dirty="0"/>
              <a:t>R1 (SSN   </a:t>
            </a:r>
            <a:r>
              <a:rPr lang="en-US" dirty="0" err="1"/>
              <a:t>Proj_No</a:t>
            </a:r>
            <a:r>
              <a:rPr lang="en-US" dirty="0"/>
              <a:t>   </a:t>
            </a:r>
            <a:r>
              <a:rPr lang="en-US" dirty="0" err="1" smtClean="0"/>
              <a:t>Emp_Hours</a:t>
            </a:r>
            <a:r>
              <a:rPr lang="en-US" dirty="0" smtClean="0"/>
              <a:t>)</a:t>
            </a:r>
          </a:p>
          <a:p>
            <a:r>
              <a:rPr lang="en-US" dirty="0" smtClean="0"/>
              <a:t>R2 (</a:t>
            </a:r>
            <a:r>
              <a:rPr lang="en-US" dirty="0"/>
              <a:t>SSN   </a:t>
            </a:r>
            <a:r>
              <a:rPr lang="en-US" dirty="0" err="1" smtClean="0"/>
              <a:t>Emp_Name</a:t>
            </a:r>
            <a:r>
              <a:rPr lang="en-US" dirty="0" smtClean="0"/>
              <a:t>)</a:t>
            </a:r>
          </a:p>
          <a:p>
            <a:r>
              <a:rPr lang="en-US" dirty="0"/>
              <a:t>R3 (</a:t>
            </a:r>
            <a:r>
              <a:rPr lang="en-US" dirty="0" err="1"/>
              <a:t>Proj_No</a:t>
            </a:r>
            <a:r>
              <a:rPr lang="en-US" dirty="0"/>
              <a:t>   </a:t>
            </a:r>
            <a:r>
              <a:rPr lang="en-US" dirty="0" err="1"/>
              <a:t>Proj_Name</a:t>
            </a:r>
            <a:r>
              <a:rPr lang="en-US" dirty="0"/>
              <a:t>      </a:t>
            </a:r>
            <a:r>
              <a:rPr lang="en-US" dirty="0" err="1" smtClean="0"/>
              <a:t>Proj_Loc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06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Third Normal Form (3NF)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R2, no transitive dependency (SSN is key).In R3, we see </a:t>
            </a:r>
            <a:r>
              <a:rPr lang="en-US" dirty="0" err="1"/>
              <a:t>Proj_No</a:t>
            </a:r>
            <a:r>
              <a:rPr lang="en-US" dirty="0"/>
              <a:t> → </a:t>
            </a:r>
            <a:r>
              <a:rPr lang="en-US" dirty="0" err="1"/>
              <a:t>Proj_Name</a:t>
            </a:r>
            <a:r>
              <a:rPr lang="en-US" dirty="0"/>
              <a:t>, </a:t>
            </a:r>
            <a:r>
              <a:rPr lang="en-US" dirty="0" err="1"/>
              <a:t>Proj_Loc.But</a:t>
            </a:r>
            <a:r>
              <a:rPr lang="en-US" dirty="0"/>
              <a:t> note: One project number should have only one location. Here, P2 has multiple locations → this indicates data </a:t>
            </a:r>
            <a:r>
              <a:rPr lang="en-US" dirty="0" err="1"/>
              <a:t>anomaly.If</a:t>
            </a:r>
            <a:r>
              <a:rPr lang="en-US" dirty="0"/>
              <a:t> in reality one project can be at multiple locations, we need another relation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R3a(Project): (</a:t>
            </a:r>
            <a:r>
              <a:rPr lang="en-US" dirty="0" err="1" smtClean="0"/>
              <a:t>Proj_No</a:t>
            </a:r>
            <a:r>
              <a:rPr lang="en-US" dirty="0" smtClean="0"/>
              <a:t>   </a:t>
            </a:r>
            <a:r>
              <a:rPr lang="en-US" dirty="0" err="1" smtClean="0"/>
              <a:t>Proj_Name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R3b (</a:t>
            </a:r>
            <a:r>
              <a:rPr lang="en-US" dirty="0" err="1"/>
              <a:t>Project_Location</a:t>
            </a:r>
            <a:r>
              <a:rPr lang="en-US" dirty="0"/>
              <a:t>):</a:t>
            </a:r>
            <a:r>
              <a:rPr lang="en-US" dirty="0" err="1"/>
              <a:t>Proj_No</a:t>
            </a:r>
            <a:r>
              <a:rPr lang="en-US" dirty="0"/>
              <a:t>   </a:t>
            </a:r>
            <a:r>
              <a:rPr lang="en-US" dirty="0" err="1"/>
              <a:t>Proj_Loc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2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Boyce-</a:t>
            </a:r>
            <a:r>
              <a:rPr lang="en-US" b="1" dirty="0" err="1"/>
              <a:t>Codd</a:t>
            </a:r>
            <a:r>
              <a:rPr lang="en-US" b="1" dirty="0"/>
              <a:t> Normal Form (BCNF)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</a:t>
            </a:r>
            <a:r>
              <a:rPr lang="en-US" dirty="0"/>
              <a:t>if for every FD, </a:t>
            </a:r>
            <a:r>
              <a:rPr lang="en-US" b="1" dirty="0"/>
              <a:t>LHS is a </a:t>
            </a:r>
            <a:r>
              <a:rPr lang="en-US" b="1" dirty="0" err="1"/>
              <a:t>superkey</a:t>
            </a:r>
            <a:r>
              <a:rPr lang="en-US" dirty="0"/>
              <a:t>.</a:t>
            </a:r>
          </a:p>
          <a:p>
            <a:r>
              <a:rPr lang="en-US" b="1" dirty="0"/>
              <a:t>R1</a:t>
            </a:r>
            <a:r>
              <a:rPr lang="en-US" dirty="0"/>
              <a:t>: (SSN, </a:t>
            </a:r>
            <a:r>
              <a:rPr lang="en-US" dirty="0" err="1"/>
              <a:t>Proj_No</a:t>
            </a:r>
            <a:r>
              <a:rPr lang="en-US" dirty="0"/>
              <a:t>) → </a:t>
            </a:r>
            <a:r>
              <a:rPr lang="en-US" dirty="0" err="1"/>
              <a:t>Emp_Hours</a:t>
            </a:r>
            <a:r>
              <a:rPr lang="en-US" dirty="0"/>
              <a:t> ✔ (No violation).</a:t>
            </a:r>
          </a:p>
          <a:p>
            <a:r>
              <a:rPr lang="en-US" b="1" dirty="0"/>
              <a:t>R2</a:t>
            </a:r>
            <a:r>
              <a:rPr lang="en-US" dirty="0"/>
              <a:t>: SSN → </a:t>
            </a:r>
            <a:r>
              <a:rPr lang="en-US" dirty="0" err="1"/>
              <a:t>Emp_Name</a:t>
            </a:r>
            <a:r>
              <a:rPr lang="en-US" dirty="0"/>
              <a:t> ✔ (SSN is key).</a:t>
            </a:r>
          </a:p>
          <a:p>
            <a:r>
              <a:rPr lang="en-US" b="1" dirty="0"/>
              <a:t>R3a</a:t>
            </a:r>
            <a:r>
              <a:rPr lang="en-US" dirty="0"/>
              <a:t>: </a:t>
            </a:r>
            <a:r>
              <a:rPr lang="en-US" dirty="0" err="1"/>
              <a:t>Proj_No</a:t>
            </a:r>
            <a:r>
              <a:rPr lang="en-US" dirty="0"/>
              <a:t> → </a:t>
            </a:r>
            <a:r>
              <a:rPr lang="en-US" dirty="0" err="1"/>
              <a:t>Proj_Name</a:t>
            </a:r>
            <a:r>
              <a:rPr lang="en-US" dirty="0"/>
              <a:t> ✔ (</a:t>
            </a:r>
            <a:r>
              <a:rPr lang="en-US" dirty="0" err="1"/>
              <a:t>Proj_No</a:t>
            </a:r>
            <a:r>
              <a:rPr lang="en-US" dirty="0"/>
              <a:t> is key).</a:t>
            </a:r>
          </a:p>
          <a:p>
            <a:r>
              <a:rPr lang="en-US" b="1" dirty="0"/>
              <a:t>R3b</a:t>
            </a:r>
            <a:r>
              <a:rPr lang="en-US" dirty="0"/>
              <a:t>: (</a:t>
            </a:r>
            <a:r>
              <a:rPr lang="en-US" dirty="0" err="1"/>
              <a:t>Proj_No</a:t>
            </a:r>
            <a:r>
              <a:rPr lang="en-US" dirty="0"/>
              <a:t>, </a:t>
            </a:r>
            <a:r>
              <a:rPr lang="en-US" dirty="0" err="1"/>
              <a:t>Proj_Loc</a:t>
            </a:r>
            <a:r>
              <a:rPr lang="en-US" dirty="0"/>
              <a:t>) is the key ✔.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1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BCNF Relations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Employee_Project</a:t>
            </a:r>
            <a:r>
              <a:rPr lang="en-US" b="1" dirty="0" smtClean="0"/>
              <a:t> </a:t>
            </a:r>
            <a:r>
              <a:rPr lang="en-US" b="1" dirty="0"/>
              <a:t>(SSN, </a:t>
            </a:r>
            <a:r>
              <a:rPr lang="en-US" b="1" dirty="0" err="1"/>
              <a:t>Proj_No</a:t>
            </a:r>
            <a:r>
              <a:rPr lang="en-US" b="1" dirty="0"/>
              <a:t>, </a:t>
            </a:r>
            <a:r>
              <a:rPr lang="en-US" b="1" dirty="0" err="1"/>
              <a:t>Emp_Hours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Employee (SSN, </a:t>
            </a:r>
            <a:r>
              <a:rPr lang="en-US" b="1" dirty="0" err="1"/>
              <a:t>Emp_Name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Project (</a:t>
            </a:r>
            <a:r>
              <a:rPr lang="en-US" b="1" dirty="0" err="1"/>
              <a:t>Proj_No</a:t>
            </a:r>
            <a:r>
              <a:rPr lang="en-US" b="1" dirty="0"/>
              <a:t>, </a:t>
            </a:r>
            <a:r>
              <a:rPr lang="en-US" b="1" dirty="0" err="1"/>
              <a:t>Proj_Name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 err="1"/>
              <a:t>Project_Location</a:t>
            </a:r>
            <a:r>
              <a:rPr lang="en-US" b="1" dirty="0"/>
              <a:t> (</a:t>
            </a:r>
            <a:r>
              <a:rPr lang="en-US" b="1" dirty="0" err="1"/>
              <a:t>Proj_No</a:t>
            </a:r>
            <a:r>
              <a:rPr lang="en-US" b="1" dirty="0"/>
              <a:t>, </a:t>
            </a:r>
            <a:r>
              <a:rPr lang="en-US" b="1" dirty="0" err="1"/>
              <a:t>Proj_Loc</a:t>
            </a:r>
            <a:r>
              <a:rPr lang="en-US" b="1" dirty="0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52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BEBA05-0AF4-42B0-B415-126A2DA8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85D44C1D-7890-467E-937F-E9B67F56A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007242"/>
              </p:ext>
            </p:extLst>
          </p:nvPr>
        </p:nvGraphicFramePr>
        <p:xfrm>
          <a:off x="838200" y="1690689"/>
          <a:ext cx="10515599" cy="4565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2308">
                  <a:extLst>
                    <a:ext uri="{9D8B030D-6E8A-4147-A177-3AD203B41FA5}">
                      <a16:colId xmlns="" xmlns:a16="http://schemas.microsoft.com/office/drawing/2014/main" val="3145513517"/>
                    </a:ext>
                  </a:extLst>
                </a:gridCol>
                <a:gridCol w="2102308">
                  <a:extLst>
                    <a:ext uri="{9D8B030D-6E8A-4147-A177-3AD203B41FA5}">
                      <a16:colId xmlns="" xmlns:a16="http://schemas.microsoft.com/office/drawing/2014/main" val="3251099907"/>
                    </a:ext>
                  </a:extLst>
                </a:gridCol>
                <a:gridCol w="2103661">
                  <a:extLst>
                    <a:ext uri="{9D8B030D-6E8A-4147-A177-3AD203B41FA5}">
                      <a16:colId xmlns="" xmlns:a16="http://schemas.microsoft.com/office/drawing/2014/main" val="847645748"/>
                    </a:ext>
                  </a:extLst>
                </a:gridCol>
                <a:gridCol w="2103661">
                  <a:extLst>
                    <a:ext uri="{9D8B030D-6E8A-4147-A177-3AD203B41FA5}">
                      <a16:colId xmlns="" xmlns:a16="http://schemas.microsoft.com/office/drawing/2014/main" val="1224708625"/>
                    </a:ext>
                  </a:extLst>
                </a:gridCol>
                <a:gridCol w="2103661">
                  <a:extLst>
                    <a:ext uri="{9D8B030D-6E8A-4147-A177-3AD203B41FA5}">
                      <a16:colId xmlns="" xmlns:a16="http://schemas.microsoft.com/office/drawing/2014/main" val="726869701"/>
                    </a:ext>
                  </a:extLst>
                </a:gridCol>
              </a:tblGrid>
              <a:tr h="4053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Property_ID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City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>
                          <a:effectLst/>
                        </a:rPr>
                        <a:t>Plot_No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Area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Price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6695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70F2189-02D2-4E0B-94C8-A8FDDE389A65}"/>
              </a:ext>
            </a:extLst>
          </p:cNvPr>
          <p:cNvSpPr txBox="1"/>
          <p:nvPr/>
        </p:nvSpPr>
        <p:spPr>
          <a:xfrm>
            <a:off x="838200" y="2683178"/>
            <a:ext cx="8966982" cy="3809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Dependencies are given as below: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FD1: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Property_ID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{City,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Plot_No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Area, Price}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FD2: {City,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Plot_No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Property_ID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Area, Price}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FD3: Area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Price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FD4: Area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City (Consider this special condition, FD just for BCNF)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96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411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Unit - 3</vt:lpstr>
      <vt:lpstr>Normalisation Example - 1</vt:lpstr>
      <vt:lpstr>Example - 2</vt:lpstr>
      <vt:lpstr>Step 1: First Normal Form (1NF) </vt:lpstr>
      <vt:lpstr>Step 2: Second Normal Form (2NF) </vt:lpstr>
      <vt:lpstr>Step 3: Third Normal Form (3NF) </vt:lpstr>
      <vt:lpstr>Step 4: Boyce-Codd Normal Form (BCNF) </vt:lpstr>
      <vt:lpstr>Final BCNF Relations </vt:lpstr>
      <vt:lpstr>Example - 3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- 3</dc:title>
  <dc:creator>Urja Mankad</dc:creator>
  <cp:lastModifiedBy>LJMCA</cp:lastModifiedBy>
  <cp:revision>10</cp:revision>
  <dcterms:created xsi:type="dcterms:W3CDTF">2021-12-10T09:11:46Z</dcterms:created>
  <dcterms:modified xsi:type="dcterms:W3CDTF">2025-09-25T07:14:38Z</dcterms:modified>
</cp:coreProperties>
</file>