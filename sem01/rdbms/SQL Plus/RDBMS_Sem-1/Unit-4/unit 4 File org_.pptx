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8" r:id="rId13"/>
    <p:sldId id="266" r:id="rId14"/>
    <p:sldId id="269" r:id="rId15"/>
    <p:sldId id="270" r:id="rId16"/>
    <p:sldId id="271" r:id="rId17"/>
    <p:sldId id="272" r:id="rId18"/>
    <p:sldId id="273" r:id="rId19"/>
    <p:sldId id="274" r:id="rId20"/>
    <p:sldId id="276" r:id="rId21"/>
    <p:sldId id="275"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3"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886541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107620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E4AF24-752B-448B-B7C9-EBDDB06A1B29}"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504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CE4AF24-752B-448B-B7C9-EBDDB06A1B29}"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43991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CE4AF24-752B-448B-B7C9-EBDDB06A1B29}" type="datetimeFigureOut">
              <a:rPr lang="en-IN" smtClean="0"/>
              <a:t>19-11-2025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8429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CE4AF24-752B-448B-B7C9-EBDDB06A1B29}" type="datetimeFigureOut">
              <a:rPr lang="en-IN" smtClean="0"/>
              <a:t>19-11-2025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113804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4AF24-752B-448B-B7C9-EBDDB06A1B29}" type="datetimeFigureOut">
              <a:rPr lang="en-IN" smtClean="0"/>
              <a:t>19-11-2025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55125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6294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0780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979048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976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4AF24-752B-448B-B7C9-EBDDB06A1B29}" type="datetimeFigureOut">
              <a:rPr lang="en-IN" smtClean="0"/>
              <a:t>19-11-2025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AD439-C554-47FB-ABF3-1D0D3204C0C1}" type="slidenum">
              <a:rPr lang="en-IN" smtClean="0"/>
              <a:t>‹#›</a:t>
            </a:fld>
            <a:endParaRPr lang="en-IN"/>
          </a:p>
        </p:txBody>
      </p:sp>
    </p:spTree>
    <p:extLst>
      <p:ext uri="{BB962C8B-B14F-4D97-AF65-F5344CB8AC3E}">
        <p14:creationId xmlns:p14="http://schemas.microsoft.com/office/powerpoint/2010/main" val="2783277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4</a:t>
            </a:r>
            <a:endParaRPr lang="en-IN" dirty="0"/>
          </a:p>
        </p:txBody>
      </p:sp>
      <p:sp>
        <p:nvSpPr>
          <p:cNvPr id="3" name="Subtitle 2"/>
          <p:cNvSpPr>
            <a:spLocks noGrp="1"/>
          </p:cNvSpPr>
          <p:nvPr>
            <p:ph type="subTitle" idx="1"/>
          </p:nvPr>
        </p:nvSpPr>
        <p:spPr/>
        <p:txBody>
          <a:bodyPr/>
          <a:lstStyle/>
          <a:p>
            <a:r>
              <a:rPr lang="en-IN" b="1" dirty="0"/>
              <a:t>Indexing, File Organization, Query Optimization</a:t>
            </a:r>
            <a:endParaRPr lang="en-IN" dirty="0"/>
          </a:p>
        </p:txBody>
      </p:sp>
    </p:spTree>
    <p:extLst>
      <p:ext uri="{BB962C8B-B14F-4D97-AF65-F5344CB8AC3E}">
        <p14:creationId xmlns:p14="http://schemas.microsoft.com/office/powerpoint/2010/main" val="2506058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63235" y="706639"/>
            <a:ext cx="11748656" cy="3970318"/>
          </a:xfrm>
          <a:prstGeom prst="rect">
            <a:avLst/>
          </a:prstGeom>
        </p:spPr>
        <p:txBody>
          <a:bodyPr wrap="square">
            <a:spAutoFit/>
          </a:bodyPr>
          <a:lstStyle/>
          <a:p>
            <a:pPr fontAlgn="base"/>
            <a:r>
              <a:rPr lang="en-US" b="0" i="0" dirty="0" smtClean="0">
                <a:solidFill>
                  <a:srgbClr val="273239"/>
                </a:solidFill>
                <a:effectLst/>
                <a:latin typeface="Nunito"/>
              </a:rPr>
              <a:t>File organization in DBMS refers to the method of storing data records in a file so they can be accessed efficiently. It determines how data is arranged, stored, and retrieved from physical storage.</a:t>
            </a:r>
          </a:p>
          <a:p>
            <a:pPr fontAlgn="base"/>
            <a:endParaRPr lang="en-US" b="0" i="0" dirty="0" smtClean="0">
              <a:solidFill>
                <a:srgbClr val="273239"/>
              </a:solidFill>
              <a:effectLst/>
              <a:latin typeface="Nunito"/>
            </a:endParaRPr>
          </a:p>
          <a:p>
            <a:pPr fontAlgn="base"/>
            <a:r>
              <a:rPr lang="en-US" b="1" i="0" dirty="0" smtClean="0">
                <a:solidFill>
                  <a:srgbClr val="273239"/>
                </a:solidFill>
                <a:effectLst/>
                <a:latin typeface="Nunito"/>
              </a:rPr>
              <a:t>The Objective of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the faster selection of records i.e. it makes the process faster.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Different Operations like inserting, deleting, and updating different records are faster and easier.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prevents us from inserting duplicate records via various operations.</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storing the records or the data very efficiently at a minimal cost.</a:t>
            </a:r>
          </a:p>
          <a:p>
            <a:pPr fontAlgn="base">
              <a:buFont typeface="Arial" panose="020B0604020202020204" pitchFamily="34" charset="0"/>
              <a:buChar char="•"/>
            </a:pPr>
            <a:endParaRPr lang="en-US" dirty="0">
              <a:solidFill>
                <a:srgbClr val="273239"/>
              </a:solidFill>
              <a:latin typeface="Nunito"/>
            </a:endParaRPr>
          </a:p>
          <a:p>
            <a:pPr fontAlgn="base"/>
            <a:endParaRPr lang="en-US" b="0" i="0" dirty="0" smtClean="0">
              <a:solidFill>
                <a:srgbClr val="273239"/>
              </a:solidFill>
              <a:effectLst/>
              <a:latin typeface="Nunito"/>
            </a:endParaRPr>
          </a:p>
        </p:txBody>
      </p:sp>
    </p:spTree>
    <p:extLst>
      <p:ext uri="{BB962C8B-B14F-4D97-AF65-F5344CB8AC3E}">
        <p14:creationId xmlns:p14="http://schemas.microsoft.com/office/powerpoint/2010/main" val="235695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63235" y="1052405"/>
            <a:ext cx="10906991" cy="4247317"/>
          </a:xfrm>
          <a:prstGeom prst="rect">
            <a:avLst/>
          </a:prstGeom>
        </p:spPr>
        <p:txBody>
          <a:bodyPr wrap="square">
            <a:spAutoFit/>
          </a:bodyPr>
          <a:lstStyle/>
          <a:p>
            <a:pPr fontAlgn="base"/>
            <a:r>
              <a:rPr lang="en-US" b="1" i="0" dirty="0" smtClean="0">
                <a:solidFill>
                  <a:srgbClr val="273239"/>
                </a:solidFill>
                <a:effectLst/>
                <a:latin typeface="Nunito"/>
              </a:rPr>
              <a:t>Types of File Organizations</a:t>
            </a:r>
          </a:p>
          <a:p>
            <a:pPr algn="just" fontAlgn="base"/>
            <a:r>
              <a:rPr lang="en-US" b="0" i="0" dirty="0" smtClean="0">
                <a:solidFill>
                  <a:srgbClr val="273239"/>
                </a:solidFill>
                <a:effectLst/>
                <a:latin typeface="Nunito"/>
              </a:rPr>
              <a:t>Various methods have been introduced to Organize files. These particular methods have advantages and disadvantages on the basis of access or selection. Thus it is all upon the programmer to decide the best-suited file Organization method according to the requirements. </a:t>
            </a:r>
          </a:p>
          <a:p>
            <a:pPr algn="just" fontAlgn="base"/>
            <a:endParaRPr lang="en-US" b="0" i="0" dirty="0" smtClean="0">
              <a:solidFill>
                <a:srgbClr val="273239"/>
              </a:solidFill>
              <a:effectLst/>
              <a:latin typeface="Nunito"/>
            </a:endParaRPr>
          </a:p>
          <a:p>
            <a:pPr algn="just" fontAlgn="base"/>
            <a:endParaRPr lang="en-US" dirty="0">
              <a:solidFill>
                <a:srgbClr val="273239"/>
              </a:solidFill>
              <a:latin typeface="Nunito"/>
            </a:endParaRPr>
          </a:p>
          <a:p>
            <a:pPr algn="just" fontAlgn="base"/>
            <a:r>
              <a:rPr lang="en-US" b="0" i="0" dirty="0" smtClean="0">
                <a:solidFill>
                  <a:srgbClr val="273239"/>
                </a:solidFill>
                <a:effectLst/>
                <a:latin typeface="Nunito"/>
              </a:rPr>
              <a:t>Some types of File Organizations are: </a:t>
            </a:r>
          </a:p>
          <a:p>
            <a:pPr algn="just" fontAlgn="base"/>
            <a:endParaRPr lang="en-US" dirty="0">
              <a:solidFill>
                <a:srgbClr val="273239"/>
              </a:solidFill>
              <a:latin typeface="Nunito"/>
            </a:endParaRPr>
          </a:p>
          <a:p>
            <a:pPr algn="just" fontAlgn="base"/>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Sequential File Organization</a:t>
            </a:r>
          </a:p>
          <a:p>
            <a:pPr fontAlgn="base">
              <a:buFont typeface="Arial" panose="020B0604020202020204" pitchFamily="34" charset="0"/>
              <a:buChar char="•"/>
            </a:pPr>
            <a:r>
              <a:rPr lang="en-US" b="0" i="0" dirty="0" smtClean="0">
                <a:solidFill>
                  <a:srgbClr val="273239"/>
                </a:solidFill>
                <a:effectLst/>
                <a:latin typeface="Nunito"/>
              </a:rPr>
              <a:t>Heap File Organization</a:t>
            </a:r>
          </a:p>
          <a:p>
            <a:pPr fontAlgn="base">
              <a:buFont typeface="Arial" panose="020B0604020202020204" pitchFamily="34" charset="0"/>
              <a:buChar char="•"/>
            </a:pPr>
            <a:r>
              <a:rPr lang="en-US" b="0" i="0" dirty="0" smtClean="0">
                <a:solidFill>
                  <a:srgbClr val="273239"/>
                </a:solidFill>
                <a:effectLst/>
                <a:latin typeface="Nunito"/>
              </a:rPr>
              <a:t>Clustered File Organization</a:t>
            </a:r>
          </a:p>
          <a:p>
            <a:pPr fontAlgn="base">
              <a:buFont typeface="Arial" panose="020B0604020202020204" pitchFamily="34" charset="0"/>
              <a:buChar char="•"/>
            </a:pPr>
            <a:r>
              <a:rPr lang="en-US" b="0" i="0" dirty="0" smtClean="0">
                <a:solidFill>
                  <a:srgbClr val="273239"/>
                </a:solidFill>
                <a:effectLst/>
                <a:latin typeface="Nunito"/>
              </a:rPr>
              <a:t>ISAM (Indexed Sequential Access Method)</a:t>
            </a:r>
          </a:p>
          <a:p>
            <a:pPr fontAlgn="base">
              <a:buFont typeface="Arial" panose="020B0604020202020204" pitchFamily="34" charset="0"/>
              <a:buChar char="•"/>
            </a:pPr>
            <a:r>
              <a:rPr lang="en-US" b="0" i="0" dirty="0" smtClean="0">
                <a:solidFill>
                  <a:srgbClr val="273239"/>
                </a:solidFill>
                <a:effectLst/>
                <a:latin typeface="Nunito"/>
              </a:rPr>
              <a:t>Hash File Organization</a:t>
            </a:r>
          </a:p>
          <a:p>
            <a:pPr fontAlgn="base">
              <a:buFont typeface="Arial" panose="020B0604020202020204" pitchFamily="34" charset="0"/>
              <a:buChar char="•"/>
            </a:pPr>
            <a:r>
              <a:rPr lang="en-US" b="0" i="0" dirty="0" smtClean="0">
                <a:solidFill>
                  <a:srgbClr val="273239"/>
                </a:solidFill>
                <a:effectLst/>
                <a:latin typeface="Nunito"/>
              </a:rPr>
              <a:t>B+ Tree File Organization</a:t>
            </a:r>
            <a:endParaRPr lang="en-US" b="0" i="0" dirty="0">
              <a:solidFill>
                <a:srgbClr val="273239"/>
              </a:solidFill>
              <a:effectLst/>
              <a:latin typeface="Nunito"/>
            </a:endParaRPr>
          </a:p>
        </p:txBody>
      </p:sp>
    </p:spTree>
    <p:extLst>
      <p:ext uri="{BB962C8B-B14F-4D97-AF65-F5344CB8AC3E}">
        <p14:creationId xmlns:p14="http://schemas.microsoft.com/office/powerpoint/2010/main" val="395846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6" y="871927"/>
            <a:ext cx="11800609" cy="923330"/>
          </a:xfrm>
          <a:prstGeom prst="rect">
            <a:avLst/>
          </a:prstGeom>
        </p:spPr>
        <p:txBody>
          <a:bodyPr wrap="square">
            <a:spAutoFit/>
          </a:bodyPr>
          <a:lstStyle/>
          <a:p>
            <a:pPr fontAlgn="base"/>
            <a:r>
              <a:rPr lang="en-US" b="1" i="0" dirty="0" smtClean="0">
                <a:solidFill>
                  <a:srgbClr val="273239"/>
                </a:solidFill>
                <a:effectLst/>
                <a:latin typeface="Nunito"/>
              </a:rPr>
              <a:t>Sequential File Organization</a:t>
            </a:r>
          </a:p>
          <a:p>
            <a:pPr algn="just" fontAlgn="base"/>
            <a:r>
              <a:rPr lang="en-US" b="0" i="0" dirty="0" smtClean="0">
                <a:solidFill>
                  <a:srgbClr val="273239"/>
                </a:solidFill>
                <a:effectLst/>
                <a:latin typeface="Nunito"/>
              </a:rPr>
              <a:t>The easiest method for file Organization is the Sequential method. In this method, the file is stored one after another in a sequential manner. There are two ways to implement this method:</a:t>
            </a:r>
            <a:endParaRPr lang="en-US" b="0" i="0" dirty="0">
              <a:solidFill>
                <a:srgbClr val="273239"/>
              </a:solidFill>
              <a:effectLst/>
              <a:latin typeface="Nunito"/>
            </a:endParaRPr>
          </a:p>
        </p:txBody>
      </p:sp>
      <p:sp>
        <p:nvSpPr>
          <p:cNvPr id="5" name="Rectangle 4"/>
          <p:cNvSpPr/>
          <p:nvPr/>
        </p:nvSpPr>
        <p:spPr>
          <a:xfrm>
            <a:off x="273625" y="1956000"/>
            <a:ext cx="11800609" cy="923330"/>
          </a:xfrm>
          <a:prstGeom prst="rect">
            <a:avLst/>
          </a:prstGeom>
        </p:spPr>
        <p:txBody>
          <a:bodyPr wrap="square">
            <a:spAutoFit/>
          </a:bodyPr>
          <a:lstStyle/>
          <a:p>
            <a:pPr fontAlgn="base"/>
            <a:r>
              <a:rPr lang="en-US" b="1" i="0" dirty="0" smtClean="0">
                <a:solidFill>
                  <a:srgbClr val="273239"/>
                </a:solidFill>
                <a:effectLst/>
                <a:latin typeface="Nunito"/>
              </a:rPr>
              <a:t>1. Pile File Method</a:t>
            </a:r>
          </a:p>
          <a:p>
            <a:pPr algn="just" fontAlgn="base"/>
            <a:r>
              <a:rPr lang="en-US" b="0" i="0" dirty="0" smtClean="0">
                <a:solidFill>
                  <a:srgbClr val="273239"/>
                </a:solidFill>
                <a:effectLst/>
                <a:latin typeface="Nunito"/>
              </a:rPr>
              <a:t>This method is quite simple, in which we store the records in a sequence i.e. one after the other in the order in which they are inserted into the tables.</a:t>
            </a:r>
            <a:endParaRPr lang="en-US" b="0" i="0" dirty="0">
              <a:solidFill>
                <a:srgbClr val="273239"/>
              </a:solidFill>
              <a:effectLst/>
              <a:latin typeface="Nunito"/>
            </a:endParaRPr>
          </a:p>
        </p:txBody>
      </p:sp>
      <p:pic>
        <p:nvPicPr>
          <p:cNvPr id="6" name="Picture 5"/>
          <p:cNvPicPr>
            <a:picLocks noChangeAspect="1"/>
          </p:cNvPicPr>
          <p:nvPr/>
        </p:nvPicPr>
        <p:blipFill>
          <a:blip r:embed="rId2"/>
          <a:stretch>
            <a:fillRect/>
          </a:stretch>
        </p:blipFill>
        <p:spPr>
          <a:xfrm>
            <a:off x="897514" y="3040072"/>
            <a:ext cx="9337531" cy="3237333"/>
          </a:xfrm>
          <a:prstGeom prst="rect">
            <a:avLst/>
          </a:prstGeom>
        </p:spPr>
      </p:pic>
    </p:spTree>
    <p:extLst>
      <p:ext uri="{BB962C8B-B14F-4D97-AF65-F5344CB8AC3E}">
        <p14:creationId xmlns:p14="http://schemas.microsoft.com/office/powerpoint/2010/main" val="19630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335972" y="906656"/>
            <a:ext cx="11856027" cy="1477328"/>
          </a:xfrm>
          <a:prstGeom prst="rect">
            <a:avLst/>
          </a:prstGeom>
        </p:spPr>
        <p:txBody>
          <a:bodyPr wrap="square">
            <a:spAutoFit/>
          </a:bodyPr>
          <a:lstStyle/>
          <a:p>
            <a:pPr fontAlgn="base"/>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the R1, R3, and so on up to R5 and R4 be four records in the sequence. Here, records are nothing but a row in any table. Suppose a new record R2 has to be inserted in the sequence, then it is simply placed at the end of the file. </a:t>
            </a:r>
          </a:p>
          <a:p>
            <a:r>
              <a:rPr lang="en-US" dirty="0" smtClean="0"/>
              <a:t/>
            </a:r>
            <a:br>
              <a:rPr lang="en-US" dirty="0" smtClean="0"/>
            </a:br>
            <a:endParaRPr lang="en-IN" dirty="0"/>
          </a:p>
        </p:txBody>
      </p:sp>
      <p:pic>
        <p:nvPicPr>
          <p:cNvPr id="7" name="Picture 6"/>
          <p:cNvPicPr>
            <a:picLocks noChangeAspect="1"/>
          </p:cNvPicPr>
          <p:nvPr/>
        </p:nvPicPr>
        <p:blipFill>
          <a:blip r:embed="rId2"/>
          <a:stretch>
            <a:fillRect/>
          </a:stretch>
        </p:blipFill>
        <p:spPr>
          <a:xfrm>
            <a:off x="1805421" y="2607210"/>
            <a:ext cx="8211640" cy="3107790"/>
          </a:xfrm>
          <a:prstGeom prst="rect">
            <a:avLst/>
          </a:prstGeom>
        </p:spPr>
      </p:pic>
    </p:spTree>
    <p:extLst>
      <p:ext uri="{BB962C8B-B14F-4D97-AF65-F5344CB8AC3E}">
        <p14:creationId xmlns:p14="http://schemas.microsoft.com/office/powerpoint/2010/main" val="84833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439881" y="1128282"/>
            <a:ext cx="11478491" cy="1200329"/>
          </a:xfrm>
          <a:prstGeom prst="rect">
            <a:avLst/>
          </a:prstGeom>
        </p:spPr>
        <p:txBody>
          <a:bodyPr wrap="square">
            <a:spAutoFit/>
          </a:bodyPr>
          <a:lstStyle/>
          <a:p>
            <a:pPr fontAlgn="base"/>
            <a:r>
              <a:rPr lang="en-US" b="1" i="0" dirty="0" smtClean="0">
                <a:solidFill>
                  <a:srgbClr val="273239"/>
                </a:solidFill>
                <a:effectLst/>
                <a:latin typeface="Nunito"/>
              </a:rPr>
              <a:t>2. Sorted File Method</a:t>
            </a:r>
          </a:p>
          <a:p>
            <a:pPr algn="just" fontAlgn="base"/>
            <a:r>
              <a:rPr lang="en-US" b="0" i="0" dirty="0" smtClean="0">
                <a:solidFill>
                  <a:srgbClr val="273239"/>
                </a:solidFill>
                <a:effectLst/>
                <a:latin typeface="Nunito"/>
              </a:rPr>
              <a:t>In this method, As the name itself suggests whenever a new record has to be inserted, it is always inserted in a sorted (ascending or descending) manner. The sorting of records may be based on any </a:t>
            </a:r>
            <a:r>
              <a:rPr lang="en-US" b="0" i="0" u="sng" dirty="0" smtClean="0">
                <a:solidFill>
                  <a:srgbClr val="357960"/>
                </a:solidFill>
                <a:effectLst/>
                <a:latin typeface="Nunito"/>
              </a:rPr>
              <a:t>primary key</a:t>
            </a:r>
            <a:r>
              <a:rPr lang="en-US" b="0" i="0" dirty="0" smtClean="0">
                <a:solidFill>
                  <a:srgbClr val="273239"/>
                </a:solidFill>
                <a:effectLst/>
                <a:latin typeface="Nunito"/>
              </a:rPr>
              <a:t> or any other key. </a:t>
            </a:r>
            <a:endParaRPr lang="en-US" b="0" i="0" dirty="0">
              <a:solidFill>
                <a:srgbClr val="273239"/>
              </a:solidFill>
              <a:effectLst/>
              <a:latin typeface="Nunito"/>
            </a:endParaRPr>
          </a:p>
        </p:txBody>
      </p:sp>
      <p:pic>
        <p:nvPicPr>
          <p:cNvPr id="5" name="Picture 4"/>
          <p:cNvPicPr>
            <a:picLocks noChangeAspect="1"/>
          </p:cNvPicPr>
          <p:nvPr/>
        </p:nvPicPr>
        <p:blipFill>
          <a:blip r:embed="rId2"/>
          <a:stretch>
            <a:fillRect/>
          </a:stretch>
        </p:blipFill>
        <p:spPr>
          <a:xfrm>
            <a:off x="1367270" y="2755323"/>
            <a:ext cx="9172646" cy="2783032"/>
          </a:xfrm>
          <a:prstGeom prst="rect">
            <a:avLst/>
          </a:prstGeom>
        </p:spPr>
      </p:pic>
    </p:spTree>
    <p:extLst>
      <p:ext uri="{BB962C8B-B14F-4D97-AF65-F5344CB8AC3E}">
        <p14:creationId xmlns:p14="http://schemas.microsoft.com/office/powerpoint/2010/main" val="190083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84017" y="1142091"/>
            <a:ext cx="11800609"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us assume that there is a preexisting sorted sequence of four records R1, R3, and so on up to R7 and R8. Suppose a new record R2 has to be inserted in the sequence, then it will be inserted at the end of the file and then it will sort the sequence. </a:t>
            </a:r>
            <a:endParaRPr lang="en-IN" dirty="0"/>
          </a:p>
        </p:txBody>
      </p:sp>
      <p:pic>
        <p:nvPicPr>
          <p:cNvPr id="6" name="Picture 5"/>
          <p:cNvPicPr>
            <a:picLocks noChangeAspect="1"/>
          </p:cNvPicPr>
          <p:nvPr/>
        </p:nvPicPr>
        <p:blipFill>
          <a:blip r:embed="rId2"/>
          <a:stretch>
            <a:fillRect/>
          </a:stretch>
        </p:blipFill>
        <p:spPr>
          <a:xfrm>
            <a:off x="1574221" y="2352674"/>
            <a:ext cx="8016588" cy="3743283"/>
          </a:xfrm>
          <a:prstGeom prst="rect">
            <a:avLst/>
          </a:prstGeom>
        </p:spPr>
      </p:pic>
    </p:spTree>
    <p:extLst>
      <p:ext uri="{BB962C8B-B14F-4D97-AF65-F5344CB8AC3E}">
        <p14:creationId xmlns:p14="http://schemas.microsoft.com/office/powerpoint/2010/main" val="816490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367144" y="1204574"/>
            <a:ext cx="10034155" cy="2031325"/>
          </a:xfrm>
          <a:prstGeom prst="rect">
            <a:avLst/>
          </a:prstGeom>
        </p:spPr>
        <p:txBody>
          <a:bodyPr wrap="square">
            <a:spAutoFit/>
          </a:bodyPr>
          <a:lstStyle/>
          <a:p>
            <a:r>
              <a:rPr lang="en-US" b="1" dirty="0" smtClean="0"/>
              <a:t>How It Works</a:t>
            </a:r>
          </a:p>
          <a:p>
            <a:pPr>
              <a:buFont typeface="+mj-lt"/>
              <a:buAutoNum type="arabicPeriod"/>
            </a:pPr>
            <a:r>
              <a:rPr lang="en-US" dirty="0" smtClean="0"/>
              <a:t>A </a:t>
            </a:r>
            <a:r>
              <a:rPr lang="en-US" b="1" dirty="0" smtClean="0"/>
              <a:t>key field</a:t>
            </a:r>
            <a:r>
              <a:rPr lang="en-US" dirty="0" smtClean="0"/>
              <a:t> is selected (mostly primary key).</a:t>
            </a:r>
          </a:p>
          <a:p>
            <a:pPr>
              <a:buFont typeface="+mj-lt"/>
              <a:buAutoNum type="arabicPeriod"/>
            </a:pPr>
            <a:r>
              <a:rPr lang="en-US" dirty="0" smtClean="0"/>
              <a:t>Records are </a:t>
            </a:r>
            <a:r>
              <a:rPr lang="en-US" b="1" dirty="0" smtClean="0"/>
              <a:t>sorted and stored</a:t>
            </a:r>
            <a:r>
              <a:rPr lang="en-US" dirty="0" smtClean="0"/>
              <a:t> according to this key.</a:t>
            </a:r>
          </a:p>
          <a:p>
            <a:pPr>
              <a:buFont typeface="+mj-lt"/>
              <a:buAutoNum type="arabicPeriod"/>
            </a:pPr>
            <a:r>
              <a:rPr lang="en-US" dirty="0" smtClean="0"/>
              <a:t>Searching becomes faster because DBMS can use:</a:t>
            </a:r>
          </a:p>
          <a:p>
            <a:pPr marL="742950" lvl="1" indent="-285750">
              <a:buFont typeface="+mj-lt"/>
              <a:buAutoNum type="arabicPeriod"/>
            </a:pPr>
            <a:r>
              <a:rPr lang="en-US" dirty="0" smtClean="0"/>
              <a:t>Binary Search</a:t>
            </a:r>
          </a:p>
          <a:p>
            <a:pPr marL="742950" lvl="1" indent="-285750">
              <a:buFont typeface="+mj-lt"/>
              <a:buAutoNum type="arabicPeriod"/>
            </a:pPr>
            <a:r>
              <a:rPr lang="en-US" dirty="0" smtClean="0"/>
              <a:t>Sequential search (in order)</a:t>
            </a:r>
          </a:p>
          <a:p>
            <a:pPr>
              <a:buFont typeface="+mj-lt"/>
              <a:buAutoNum type="arabicPeriod"/>
            </a:pPr>
            <a:r>
              <a:rPr lang="en-US" dirty="0" smtClean="0"/>
              <a:t>Insertions and deletions are harder because the order must be maintained.</a:t>
            </a:r>
            <a:endParaRPr lang="en-US" dirty="0"/>
          </a:p>
        </p:txBody>
      </p:sp>
      <p:sp>
        <p:nvSpPr>
          <p:cNvPr id="5" name="Rectangle 4"/>
          <p:cNvSpPr/>
          <p:nvPr/>
        </p:nvSpPr>
        <p:spPr>
          <a:xfrm>
            <a:off x="367144" y="3587648"/>
            <a:ext cx="6096000" cy="2862322"/>
          </a:xfrm>
          <a:prstGeom prst="rect">
            <a:avLst/>
          </a:prstGeom>
        </p:spPr>
        <p:txBody>
          <a:bodyPr>
            <a:spAutoFit/>
          </a:bodyPr>
          <a:lstStyle/>
          <a:p>
            <a:r>
              <a:rPr lang="en-US" b="1" dirty="0" smtClean="0"/>
              <a:t>When to Use Sequential File Organization</a:t>
            </a:r>
          </a:p>
          <a:p>
            <a:r>
              <a:rPr lang="en-US" dirty="0" smtClean="0"/>
              <a:t>It is best when:</a:t>
            </a:r>
          </a:p>
          <a:p>
            <a:pPr>
              <a:buFont typeface="Arial" panose="020B0604020202020204" pitchFamily="34" charset="0"/>
              <a:buChar char="•"/>
            </a:pPr>
            <a:r>
              <a:rPr lang="en-US" dirty="0" smtClean="0"/>
              <a:t>Data is mostly </a:t>
            </a:r>
            <a:r>
              <a:rPr lang="en-US" b="1" dirty="0" smtClean="0"/>
              <a:t>read</a:t>
            </a:r>
            <a:r>
              <a:rPr lang="en-US" dirty="0" smtClean="0"/>
              <a:t>, not updated frequently</a:t>
            </a:r>
          </a:p>
          <a:p>
            <a:pPr>
              <a:buFont typeface="Arial" panose="020B0604020202020204" pitchFamily="34" charset="0"/>
              <a:buChar char="•"/>
            </a:pPr>
            <a:r>
              <a:rPr lang="en-US" dirty="0" smtClean="0"/>
              <a:t>Records need to be processed in sort order</a:t>
            </a:r>
          </a:p>
          <a:p>
            <a:pPr>
              <a:buFont typeface="Arial" panose="020B0604020202020204" pitchFamily="34" charset="0"/>
              <a:buChar char="•"/>
            </a:pPr>
            <a:r>
              <a:rPr lang="en-US" dirty="0" smtClean="0"/>
              <a:t>Range queries are common</a:t>
            </a:r>
          </a:p>
          <a:p>
            <a:pPr>
              <a:buFont typeface="Arial" panose="020B0604020202020204" pitchFamily="34" charset="0"/>
              <a:buChar char="•"/>
            </a:pPr>
            <a:r>
              <a:rPr lang="en-US" dirty="0" smtClean="0"/>
              <a:t>Searching speed is important</a:t>
            </a:r>
            <a:br>
              <a:rPr lang="en-US" dirty="0" smtClean="0"/>
            </a:br>
            <a:r>
              <a:rPr lang="en-US" dirty="0" smtClean="0"/>
              <a:t>Examples:</a:t>
            </a:r>
          </a:p>
          <a:p>
            <a:pPr>
              <a:buFont typeface="Arial" panose="020B0604020202020204" pitchFamily="34" charset="0"/>
              <a:buChar char="•"/>
            </a:pPr>
            <a:r>
              <a:rPr lang="en-US" dirty="0" smtClean="0"/>
              <a:t>Payroll system</a:t>
            </a:r>
          </a:p>
          <a:p>
            <a:pPr>
              <a:buFont typeface="Arial" panose="020B0604020202020204" pitchFamily="34" charset="0"/>
              <a:buChar char="•"/>
            </a:pPr>
            <a:r>
              <a:rPr lang="en-US" dirty="0" smtClean="0"/>
              <a:t>Student result system</a:t>
            </a:r>
          </a:p>
          <a:p>
            <a:pPr>
              <a:buFont typeface="Arial" panose="020B0604020202020204" pitchFamily="34" charset="0"/>
              <a:buChar char="•"/>
            </a:pPr>
            <a:r>
              <a:rPr lang="en-US" dirty="0" smtClean="0"/>
              <a:t>Invoice or billing system</a:t>
            </a:r>
            <a:endParaRPr lang="en-US" dirty="0"/>
          </a:p>
        </p:txBody>
      </p:sp>
      <p:sp>
        <p:nvSpPr>
          <p:cNvPr id="7" name="Rectangle 6"/>
          <p:cNvSpPr/>
          <p:nvPr/>
        </p:nvSpPr>
        <p:spPr>
          <a:xfrm>
            <a:off x="7121236" y="1090136"/>
            <a:ext cx="6096000" cy="1477328"/>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stored in </a:t>
            </a:r>
            <a:r>
              <a:rPr lang="en-US" b="1" dirty="0" smtClean="0"/>
              <a:t>sorted (ordered)</a:t>
            </a:r>
            <a:r>
              <a:rPr lang="en-US" dirty="0" smtClean="0"/>
              <a:t> manner.</a:t>
            </a:r>
          </a:p>
          <a:p>
            <a:pPr>
              <a:buFont typeface="Arial" panose="020B0604020202020204" pitchFamily="34" charset="0"/>
              <a:buChar char="•"/>
            </a:pPr>
            <a:r>
              <a:rPr lang="en-US" dirty="0" smtClean="0"/>
              <a:t>Good for </a:t>
            </a:r>
            <a:r>
              <a:rPr lang="en-US" b="1" dirty="0" smtClean="0"/>
              <a:t>range queries</a:t>
            </a:r>
            <a:r>
              <a:rPr lang="en-US" dirty="0" smtClean="0"/>
              <a:t> (e.g., 100 &lt; Roll No &lt; 200).</a:t>
            </a:r>
          </a:p>
          <a:p>
            <a:pPr>
              <a:buFont typeface="Arial" panose="020B0604020202020204" pitchFamily="34" charset="0"/>
              <a:buChar char="•"/>
            </a:pPr>
            <a:r>
              <a:rPr lang="en-US" dirty="0" smtClean="0"/>
              <a:t>Efficient for </a:t>
            </a:r>
            <a:r>
              <a:rPr lang="en-US" b="1" dirty="0" smtClean="0"/>
              <a:t>sequential processing</a:t>
            </a:r>
            <a:r>
              <a:rPr lang="en-US" dirty="0" smtClean="0"/>
              <a:t>.</a:t>
            </a:r>
          </a:p>
          <a:p>
            <a:pPr>
              <a:buFont typeface="Arial" panose="020B0604020202020204" pitchFamily="34" charset="0"/>
              <a:buChar char="•"/>
            </a:pPr>
            <a:r>
              <a:rPr lang="en-US" dirty="0" smtClean="0"/>
              <a:t>Insertion and deletion require </a:t>
            </a:r>
            <a:r>
              <a:rPr lang="en-US" b="1" dirty="0" smtClean="0"/>
              <a:t>reorganization</a:t>
            </a:r>
            <a:r>
              <a:rPr lang="en-US" dirty="0" smtClean="0"/>
              <a:t> of file.</a:t>
            </a:r>
            <a:endParaRPr lang="en-US" dirty="0"/>
          </a:p>
        </p:txBody>
      </p:sp>
    </p:spTree>
    <p:extLst>
      <p:ext uri="{BB962C8B-B14F-4D97-AF65-F5344CB8AC3E}">
        <p14:creationId xmlns:p14="http://schemas.microsoft.com/office/powerpoint/2010/main" val="276454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8" y="1235885"/>
            <a:ext cx="11769436" cy="3970318"/>
          </a:xfrm>
          <a:prstGeom prst="rect">
            <a:avLst/>
          </a:prstGeom>
        </p:spPr>
        <p:txBody>
          <a:bodyPr wrap="square">
            <a:spAutoFit/>
          </a:bodyPr>
          <a:lstStyle/>
          <a:p>
            <a:pPr fontAlgn="base"/>
            <a:r>
              <a:rPr lang="en-US" b="1" i="0" dirty="0" smtClean="0">
                <a:solidFill>
                  <a:srgbClr val="273239"/>
                </a:solidFill>
                <a:effectLst/>
                <a:latin typeface="Nunito"/>
              </a:rPr>
              <a:t>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Fast and efficient method for huge amounts of data.</a:t>
            </a:r>
          </a:p>
          <a:p>
            <a:pPr fontAlgn="base">
              <a:buFont typeface="Arial" panose="020B0604020202020204" pitchFamily="34" charset="0"/>
              <a:buChar char="•"/>
            </a:pPr>
            <a:r>
              <a:rPr lang="en-US" b="0" i="0" dirty="0" smtClean="0">
                <a:solidFill>
                  <a:srgbClr val="273239"/>
                </a:solidFill>
                <a:effectLst/>
                <a:latin typeface="Nunito"/>
              </a:rPr>
              <a:t>Simple design.</a:t>
            </a:r>
          </a:p>
          <a:p>
            <a:pPr fontAlgn="base">
              <a:buFont typeface="Arial" panose="020B0604020202020204" pitchFamily="34" charset="0"/>
              <a:buChar char="•"/>
            </a:pPr>
            <a:r>
              <a:rPr lang="en-US" b="0" i="0" dirty="0" smtClean="0">
                <a:solidFill>
                  <a:srgbClr val="273239"/>
                </a:solidFill>
                <a:effectLst/>
                <a:latin typeface="Nunito"/>
              </a:rPr>
              <a:t>Files can be easily stored in </a:t>
            </a:r>
            <a:r>
              <a:rPr lang="en-US" b="0" i="0" u="sng" dirty="0" smtClean="0">
                <a:solidFill>
                  <a:srgbClr val="357960"/>
                </a:solidFill>
                <a:effectLst/>
                <a:latin typeface="Nunito"/>
              </a:rPr>
              <a:t>magnetic tapes</a:t>
            </a:r>
            <a:r>
              <a:rPr lang="en-US" b="0" i="0" dirty="0" smtClean="0">
                <a:solidFill>
                  <a:srgbClr val="273239"/>
                </a:solidFill>
                <a:effectLst/>
                <a:latin typeface="Nunito"/>
              </a:rPr>
              <a:t> i.e. cheaper storage mechanism.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Time wastage as we cannot jump on a particular record that is required, but we have to move in a sequential manner which takes our time.</a:t>
            </a:r>
          </a:p>
          <a:p>
            <a:pPr fontAlgn="base">
              <a:buFont typeface="Arial" panose="020B0604020202020204" pitchFamily="34" charset="0"/>
              <a:buChar char="•"/>
            </a:pPr>
            <a:r>
              <a:rPr lang="en-US" b="0" i="0" dirty="0" smtClean="0">
                <a:solidFill>
                  <a:srgbClr val="273239"/>
                </a:solidFill>
                <a:effectLst/>
                <a:latin typeface="Nunito"/>
              </a:rPr>
              <a:t>The sorted file method is inefficient as it takes time and space for sorting records.</a:t>
            </a:r>
            <a:endParaRPr lang="en-US" b="0" i="0" dirty="0">
              <a:solidFill>
                <a:srgbClr val="273239"/>
              </a:solidFill>
              <a:effectLst/>
              <a:latin typeface="Nunito"/>
            </a:endParaRPr>
          </a:p>
        </p:txBody>
      </p:sp>
    </p:spTree>
    <p:extLst>
      <p:ext uri="{BB962C8B-B14F-4D97-AF65-F5344CB8AC3E}">
        <p14:creationId xmlns:p14="http://schemas.microsoft.com/office/powerpoint/2010/main" val="390208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429895"/>
            <a:ext cx="11259067" cy="2308324"/>
          </a:xfrm>
          <a:prstGeom prst="rect">
            <a:avLst/>
          </a:prstGeom>
        </p:spPr>
        <p:txBody>
          <a:bodyPr wrap="square">
            <a:spAutoFit/>
          </a:bodyPr>
          <a:lstStyle/>
          <a:p>
            <a:r>
              <a:rPr lang="en-US" b="0" i="0" dirty="0" smtClean="0">
                <a:solidFill>
                  <a:srgbClr val="444444"/>
                </a:solidFill>
                <a:effectLst/>
                <a:latin typeface="Poppins"/>
              </a:rPr>
              <a:t>It is the most fundamental and basic form of file organization. It’s based on data chunks. The records are inserted at the end of the file in the heap file organization. The ordering and sorting of records are not required when the entries are added.</a:t>
            </a:r>
          </a:p>
          <a:p>
            <a:endParaRPr lang="en-US" b="0" i="0" dirty="0" smtClean="0">
              <a:solidFill>
                <a:srgbClr val="444444"/>
              </a:solidFill>
              <a:effectLst/>
              <a:latin typeface="Poppins"/>
            </a:endParaRPr>
          </a:p>
          <a:p>
            <a:r>
              <a:rPr lang="en-US" b="0" i="0" dirty="0" smtClean="0">
                <a:solidFill>
                  <a:srgbClr val="444444"/>
                </a:solidFill>
                <a:effectLst/>
                <a:latin typeface="Poppins"/>
              </a:rPr>
              <a:t>The new record is put in a different block when the data block is full. This new data block does not have to be the next data block in the memory; it can store new entries in any data block in the memory. An unordered file is the same as a heap file. Every record in the file has a unique id, and every page in the file is the same size. The DBMS is in charge of storing and managing the new records.</a:t>
            </a:r>
            <a:endParaRPr lang="en-US" b="0" i="0" dirty="0">
              <a:solidFill>
                <a:srgbClr val="444444"/>
              </a:solidFill>
              <a:effectLst/>
              <a:latin typeface="Poppins"/>
            </a:endParaRPr>
          </a:p>
        </p:txBody>
      </p:sp>
      <p:pic>
        <p:nvPicPr>
          <p:cNvPr id="6" name="Picture 5"/>
          <p:cNvPicPr>
            <a:picLocks noChangeAspect="1"/>
          </p:cNvPicPr>
          <p:nvPr/>
        </p:nvPicPr>
        <p:blipFill>
          <a:blip r:embed="rId2"/>
          <a:stretch>
            <a:fillRect/>
          </a:stretch>
        </p:blipFill>
        <p:spPr>
          <a:xfrm>
            <a:off x="3671021" y="4044228"/>
            <a:ext cx="3436361" cy="2803634"/>
          </a:xfrm>
          <a:prstGeom prst="rect">
            <a:avLst/>
          </a:prstGeom>
        </p:spPr>
      </p:pic>
      <p:pic>
        <p:nvPicPr>
          <p:cNvPr id="7" name="Picture 6"/>
          <p:cNvPicPr>
            <a:picLocks noChangeAspect="1"/>
          </p:cNvPicPr>
          <p:nvPr/>
        </p:nvPicPr>
        <p:blipFill>
          <a:blip r:embed="rId3"/>
          <a:stretch>
            <a:fillRect/>
          </a:stretch>
        </p:blipFill>
        <p:spPr>
          <a:xfrm>
            <a:off x="3865418" y="3830057"/>
            <a:ext cx="1219200" cy="266700"/>
          </a:xfrm>
          <a:prstGeom prst="rect">
            <a:avLst/>
          </a:prstGeom>
        </p:spPr>
      </p:pic>
      <p:pic>
        <p:nvPicPr>
          <p:cNvPr id="8" name="Picture 7"/>
          <p:cNvPicPr>
            <a:picLocks noChangeAspect="1"/>
          </p:cNvPicPr>
          <p:nvPr/>
        </p:nvPicPr>
        <p:blipFill>
          <a:blip r:embed="rId4"/>
          <a:stretch>
            <a:fillRect/>
          </a:stretch>
        </p:blipFill>
        <p:spPr>
          <a:xfrm>
            <a:off x="5782973" y="3830057"/>
            <a:ext cx="1228725" cy="371475"/>
          </a:xfrm>
          <a:prstGeom prst="rect">
            <a:avLst/>
          </a:prstGeom>
        </p:spPr>
      </p:pic>
      <p:pic>
        <p:nvPicPr>
          <p:cNvPr id="9" name="Picture 8"/>
          <p:cNvPicPr>
            <a:picLocks noChangeAspect="1"/>
          </p:cNvPicPr>
          <p:nvPr/>
        </p:nvPicPr>
        <p:blipFill>
          <a:blip r:embed="rId5"/>
          <a:stretch>
            <a:fillRect/>
          </a:stretch>
        </p:blipFill>
        <p:spPr>
          <a:xfrm>
            <a:off x="7011698" y="4320453"/>
            <a:ext cx="1038225" cy="190500"/>
          </a:xfrm>
          <a:prstGeom prst="rect">
            <a:avLst/>
          </a:prstGeom>
        </p:spPr>
      </p:pic>
      <p:pic>
        <p:nvPicPr>
          <p:cNvPr id="10" name="Picture 9"/>
          <p:cNvPicPr>
            <a:picLocks noChangeAspect="1"/>
          </p:cNvPicPr>
          <p:nvPr/>
        </p:nvPicPr>
        <p:blipFill>
          <a:blip r:embed="rId6"/>
          <a:stretch>
            <a:fillRect/>
          </a:stretch>
        </p:blipFill>
        <p:spPr>
          <a:xfrm>
            <a:off x="7022089" y="5169961"/>
            <a:ext cx="1009650" cy="200025"/>
          </a:xfrm>
          <a:prstGeom prst="rect">
            <a:avLst/>
          </a:prstGeom>
        </p:spPr>
      </p:pic>
      <p:pic>
        <p:nvPicPr>
          <p:cNvPr id="11" name="Picture 10"/>
          <p:cNvPicPr>
            <a:picLocks noChangeAspect="1"/>
          </p:cNvPicPr>
          <p:nvPr/>
        </p:nvPicPr>
        <p:blipFill>
          <a:blip r:embed="rId7"/>
          <a:stretch>
            <a:fillRect/>
          </a:stretch>
        </p:blipFill>
        <p:spPr>
          <a:xfrm>
            <a:off x="7011698" y="5924219"/>
            <a:ext cx="1019175" cy="209550"/>
          </a:xfrm>
          <a:prstGeom prst="rect">
            <a:avLst/>
          </a:prstGeom>
        </p:spPr>
      </p:pic>
    </p:spTree>
    <p:extLst>
      <p:ext uri="{BB962C8B-B14F-4D97-AF65-F5344CB8AC3E}">
        <p14:creationId xmlns:p14="http://schemas.microsoft.com/office/powerpoint/2010/main" val="1443515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3" name="Rectangle 2"/>
          <p:cNvSpPr/>
          <p:nvPr/>
        </p:nvSpPr>
        <p:spPr>
          <a:xfrm>
            <a:off x="524224" y="1419228"/>
            <a:ext cx="11498058"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Suppose we have four records in the heap R1, R5, R6, R4, and R3, and suppose a new record R2 has to be inserted in the heap then, since the last data block </a:t>
            </a:r>
            <a:r>
              <a:rPr lang="en-US" b="0" i="0" dirty="0" err="1" smtClean="0">
                <a:solidFill>
                  <a:srgbClr val="273239"/>
                </a:solidFill>
                <a:effectLst/>
                <a:latin typeface="Nunito"/>
              </a:rPr>
              <a:t>i.e</a:t>
            </a:r>
            <a:r>
              <a:rPr lang="en-US" b="0" i="0" dirty="0" smtClean="0">
                <a:solidFill>
                  <a:srgbClr val="273239"/>
                </a:solidFill>
                <a:effectLst/>
                <a:latin typeface="Nunito"/>
              </a:rPr>
              <a:t> data block 3 is full it will be inserted in any of the data blocks selected by the DBMS, let's say data block 1.</a:t>
            </a:r>
            <a:endParaRPr lang="en-IN" dirty="0"/>
          </a:p>
        </p:txBody>
      </p:sp>
      <p:pic>
        <p:nvPicPr>
          <p:cNvPr id="12" name="Picture 11"/>
          <p:cNvPicPr>
            <a:picLocks noChangeAspect="1"/>
          </p:cNvPicPr>
          <p:nvPr/>
        </p:nvPicPr>
        <p:blipFill>
          <a:blip r:embed="rId2"/>
          <a:stretch>
            <a:fillRect/>
          </a:stretch>
        </p:blipFill>
        <p:spPr>
          <a:xfrm>
            <a:off x="3209574" y="2423729"/>
            <a:ext cx="4155283" cy="3260098"/>
          </a:xfrm>
          <a:prstGeom prst="rect">
            <a:avLst/>
          </a:prstGeom>
        </p:spPr>
      </p:pic>
      <p:sp>
        <p:nvSpPr>
          <p:cNvPr id="13" name="Rectangle 12"/>
          <p:cNvSpPr/>
          <p:nvPr/>
        </p:nvSpPr>
        <p:spPr>
          <a:xfrm>
            <a:off x="524224" y="5683827"/>
            <a:ext cx="11498058" cy="923330"/>
          </a:xfrm>
          <a:prstGeom prst="rect">
            <a:avLst/>
          </a:prstGeom>
        </p:spPr>
        <p:txBody>
          <a:bodyPr wrap="square">
            <a:spAutoFit/>
          </a:bodyPr>
          <a:lstStyle/>
          <a:p>
            <a:r>
              <a:rPr lang="en-US" b="0" i="0" dirty="0" smtClean="0">
                <a:solidFill>
                  <a:srgbClr val="273239"/>
                </a:solidFill>
                <a:effectLst/>
                <a:latin typeface="Nunito"/>
              </a:rPr>
              <a:t>If we want to search, delete or update data in the heap file Organization we will traverse the data from the beginning of the file till we get the requested record. Thus if the database is very huge, searching, deleting, or updating the record will take a lot of time.</a:t>
            </a:r>
            <a:endParaRPr lang="en-IN" dirty="0"/>
          </a:p>
        </p:txBody>
      </p:sp>
    </p:spTree>
    <p:extLst>
      <p:ext uri="{BB962C8B-B14F-4D97-AF65-F5344CB8AC3E}">
        <p14:creationId xmlns:p14="http://schemas.microsoft.com/office/powerpoint/2010/main" val="2236925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5" name="Rectangle 4"/>
          <p:cNvSpPr/>
          <p:nvPr/>
        </p:nvSpPr>
        <p:spPr>
          <a:xfrm>
            <a:off x="524223" y="771569"/>
            <a:ext cx="6801367" cy="2031325"/>
          </a:xfrm>
          <a:prstGeom prst="rect">
            <a:avLst/>
          </a:prstGeom>
        </p:spPr>
        <p:txBody>
          <a:bodyPr wrap="square">
            <a:spAutoFit/>
          </a:bodyPr>
          <a:lstStyle/>
          <a:p>
            <a:r>
              <a:rPr lang="en-US" b="1" dirty="0" smtClean="0"/>
              <a:t>How It Works</a:t>
            </a:r>
          </a:p>
          <a:p>
            <a:pPr>
              <a:buFont typeface="+mj-lt"/>
              <a:buAutoNum type="arabicPeriod"/>
            </a:pPr>
            <a:r>
              <a:rPr lang="en-US" dirty="0" smtClean="0"/>
              <a:t>The file is divided into </a:t>
            </a:r>
            <a:r>
              <a:rPr lang="en-US" b="1" dirty="0" smtClean="0"/>
              <a:t>pages/blocks</a:t>
            </a:r>
            <a:r>
              <a:rPr lang="en-US" dirty="0" smtClean="0"/>
              <a:t>.</a:t>
            </a:r>
          </a:p>
          <a:p>
            <a:pPr>
              <a:buFont typeface="+mj-lt"/>
              <a:buAutoNum type="arabicPeriod"/>
            </a:pPr>
            <a:r>
              <a:rPr lang="en-US" dirty="0" smtClean="0"/>
              <a:t>When a new record arrives, DBMS:</a:t>
            </a:r>
          </a:p>
          <a:p>
            <a:pPr marL="742950" lvl="1" indent="-285750">
              <a:buFont typeface="+mj-lt"/>
              <a:buAutoNum type="arabicPeriod"/>
            </a:pPr>
            <a:r>
              <a:rPr lang="en-US" dirty="0" smtClean="0"/>
              <a:t>Finds the </a:t>
            </a:r>
            <a:r>
              <a:rPr lang="en-US" b="1" dirty="0" smtClean="0"/>
              <a:t>first available free space</a:t>
            </a:r>
            <a:r>
              <a:rPr lang="en-US" dirty="0" smtClean="0"/>
              <a:t> in any block</a:t>
            </a:r>
          </a:p>
          <a:p>
            <a:pPr marL="742950" lvl="1" indent="-285750">
              <a:buFont typeface="+mj-lt"/>
              <a:buAutoNum type="arabicPeriod"/>
            </a:pPr>
            <a:r>
              <a:rPr lang="en-US" dirty="0" smtClean="0"/>
              <a:t>Stores the record there</a:t>
            </a:r>
          </a:p>
          <a:p>
            <a:pPr>
              <a:buFont typeface="+mj-lt"/>
              <a:buAutoNum type="arabicPeriod"/>
            </a:pPr>
            <a:r>
              <a:rPr lang="en-US" dirty="0" smtClean="0"/>
              <a:t>There is </a:t>
            </a:r>
            <a:r>
              <a:rPr lang="en-US" b="1" dirty="0" smtClean="0"/>
              <a:t>no sorting or ordering</a:t>
            </a:r>
            <a:r>
              <a:rPr lang="en-US" dirty="0" smtClean="0"/>
              <a:t> of records.</a:t>
            </a:r>
          </a:p>
          <a:p>
            <a:pPr>
              <a:buFont typeface="+mj-lt"/>
              <a:buAutoNum type="arabicPeriod"/>
            </a:pPr>
            <a:r>
              <a:rPr lang="en-US" dirty="0" smtClean="0"/>
              <a:t>Searching requires scanning the file from beginning to end. </a:t>
            </a:r>
            <a:endParaRPr lang="en-US" dirty="0"/>
          </a:p>
        </p:txBody>
      </p:sp>
      <p:sp>
        <p:nvSpPr>
          <p:cNvPr id="6" name="Rectangle 5"/>
          <p:cNvSpPr/>
          <p:nvPr/>
        </p:nvSpPr>
        <p:spPr>
          <a:xfrm>
            <a:off x="7325590" y="771569"/>
            <a:ext cx="6096000" cy="1754326"/>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a:t>
            </a:r>
            <a:r>
              <a:rPr lang="en-US" b="1" dirty="0" smtClean="0"/>
              <a:t>stored randomly</a:t>
            </a:r>
            <a:r>
              <a:rPr lang="en-US" dirty="0" smtClean="0"/>
              <a:t>, not sorted.</a:t>
            </a:r>
          </a:p>
          <a:p>
            <a:pPr>
              <a:buFont typeface="Arial" panose="020B0604020202020204" pitchFamily="34" charset="0"/>
              <a:buChar char="•"/>
            </a:pPr>
            <a:r>
              <a:rPr lang="en-US" dirty="0" smtClean="0"/>
              <a:t>Very </a:t>
            </a:r>
            <a:r>
              <a:rPr lang="en-US" b="1" dirty="0" smtClean="0"/>
              <a:t>fast insertion</a:t>
            </a:r>
            <a:r>
              <a:rPr lang="en-US" dirty="0" smtClean="0"/>
              <a:t> (just place it anywhere).</a:t>
            </a:r>
          </a:p>
          <a:p>
            <a:pPr>
              <a:buFont typeface="Arial" panose="020B0604020202020204" pitchFamily="34" charset="0"/>
              <a:buChar char="•"/>
            </a:pPr>
            <a:r>
              <a:rPr lang="en-US" dirty="0" smtClean="0"/>
              <a:t>Searching is </a:t>
            </a:r>
            <a:r>
              <a:rPr lang="en-US" b="1" dirty="0" smtClean="0"/>
              <a:t>slow</a:t>
            </a:r>
            <a:r>
              <a:rPr lang="en-US" dirty="0" smtClean="0"/>
              <a:t>, especially for large files.</a:t>
            </a:r>
          </a:p>
          <a:p>
            <a:pPr>
              <a:buFont typeface="Arial" panose="020B0604020202020204" pitchFamily="34" charset="0"/>
              <a:buChar char="•"/>
            </a:pPr>
            <a:r>
              <a:rPr lang="en-US" dirty="0" smtClean="0"/>
              <a:t>Good when data is inserted frequently.</a:t>
            </a:r>
          </a:p>
          <a:p>
            <a:pPr>
              <a:buFont typeface="Arial" panose="020B0604020202020204" pitchFamily="34" charset="0"/>
              <a:buChar char="•"/>
            </a:pPr>
            <a:r>
              <a:rPr lang="en-US" dirty="0" smtClean="0"/>
              <a:t>Not suitable for range queries.</a:t>
            </a:r>
            <a:endParaRPr lang="en-US" dirty="0"/>
          </a:p>
        </p:txBody>
      </p:sp>
      <p:sp>
        <p:nvSpPr>
          <p:cNvPr id="7" name="Rectangle 6"/>
          <p:cNvSpPr/>
          <p:nvPr/>
        </p:nvSpPr>
        <p:spPr>
          <a:xfrm>
            <a:off x="524223" y="3125018"/>
            <a:ext cx="6096000" cy="3416320"/>
          </a:xfrm>
          <a:prstGeom prst="rect">
            <a:avLst/>
          </a:prstGeom>
        </p:spPr>
        <p:txBody>
          <a:bodyPr>
            <a:spAutoFit/>
          </a:bodyPr>
          <a:lstStyle/>
          <a:p>
            <a:r>
              <a:rPr lang="en-US" b="1" dirty="0" smtClean="0"/>
              <a:t>When to Use Heap File Organization</a:t>
            </a:r>
          </a:p>
          <a:p>
            <a:r>
              <a:rPr lang="en-US" dirty="0" smtClean="0"/>
              <a:t>Use heap organization when:</a:t>
            </a:r>
          </a:p>
          <a:p>
            <a:pPr>
              <a:buFont typeface="Arial" panose="020B0604020202020204" pitchFamily="34" charset="0"/>
              <a:buChar char="•"/>
            </a:pPr>
            <a:r>
              <a:rPr lang="en-US" dirty="0" smtClean="0"/>
              <a:t>Insertion is frequent</a:t>
            </a:r>
          </a:p>
          <a:p>
            <a:pPr>
              <a:buFont typeface="Arial" panose="020B0604020202020204" pitchFamily="34" charset="0"/>
              <a:buChar char="•"/>
            </a:pPr>
            <a:r>
              <a:rPr lang="en-US" dirty="0" smtClean="0"/>
              <a:t>Searching is not frequent</a:t>
            </a:r>
          </a:p>
          <a:p>
            <a:pPr>
              <a:buFont typeface="Arial" panose="020B0604020202020204" pitchFamily="34" charset="0"/>
              <a:buChar char="•"/>
            </a:pPr>
            <a:r>
              <a:rPr lang="en-US" dirty="0" smtClean="0"/>
              <a:t>No ordering is required</a:t>
            </a:r>
          </a:p>
          <a:p>
            <a:pPr>
              <a:buFont typeface="Arial" panose="020B0604020202020204" pitchFamily="34" charset="0"/>
              <a:buChar char="•"/>
            </a:pPr>
            <a:r>
              <a:rPr lang="en-US" dirty="0" smtClean="0"/>
              <a:t>Table size is small</a:t>
            </a:r>
          </a:p>
          <a:p>
            <a:pPr>
              <a:buFont typeface="Arial" panose="020B0604020202020204" pitchFamily="34" charset="0"/>
              <a:buChar char="•"/>
            </a:pPr>
            <a:r>
              <a:rPr lang="en-US" dirty="0" smtClean="0"/>
              <a:t>Temporary or log data</a:t>
            </a:r>
          </a:p>
          <a:p>
            <a:r>
              <a:rPr lang="en-US" b="1" dirty="0" smtClean="0"/>
              <a:t>Examples</a:t>
            </a:r>
            <a:r>
              <a:rPr lang="en-US" dirty="0" smtClean="0"/>
              <a:t>:</a:t>
            </a:r>
          </a:p>
          <a:p>
            <a:pPr>
              <a:buFont typeface="Arial" panose="020B0604020202020204" pitchFamily="34" charset="0"/>
              <a:buChar char="•"/>
            </a:pPr>
            <a:r>
              <a:rPr lang="en-US" dirty="0" smtClean="0"/>
              <a:t>Transaction logs</a:t>
            </a:r>
          </a:p>
          <a:p>
            <a:pPr>
              <a:buFont typeface="Arial" panose="020B0604020202020204" pitchFamily="34" charset="0"/>
              <a:buChar char="•"/>
            </a:pPr>
            <a:r>
              <a:rPr lang="en-US" dirty="0" smtClean="0"/>
              <a:t>Backup tables</a:t>
            </a:r>
          </a:p>
          <a:p>
            <a:pPr>
              <a:buFont typeface="Arial" panose="020B0604020202020204" pitchFamily="34" charset="0"/>
              <a:buChar char="•"/>
            </a:pPr>
            <a:r>
              <a:rPr lang="en-US" dirty="0" smtClean="0"/>
              <a:t>Temporary results</a:t>
            </a:r>
          </a:p>
          <a:p>
            <a:pPr>
              <a:buFont typeface="Arial" panose="020B0604020202020204" pitchFamily="34" charset="0"/>
              <a:buChar char="•"/>
            </a:pPr>
            <a:r>
              <a:rPr lang="en-US" dirty="0" smtClean="0"/>
              <a:t>History tables</a:t>
            </a:r>
            <a:endParaRPr lang="en-US" dirty="0"/>
          </a:p>
        </p:txBody>
      </p:sp>
    </p:spTree>
    <p:extLst>
      <p:ext uri="{BB962C8B-B14F-4D97-AF65-F5344CB8AC3E}">
        <p14:creationId xmlns:p14="http://schemas.microsoft.com/office/powerpoint/2010/main" val="216596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i="0" dirty="0" smtClean="0">
                <a:solidFill>
                  <a:srgbClr val="273239"/>
                </a:solidFill>
                <a:effectLst/>
                <a:latin typeface="Nunito"/>
              </a:rPr>
              <a:t>Advantages of Heap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Fetching and retrieving records is faster than sequential records but only in the case of small databases.</a:t>
            </a:r>
          </a:p>
          <a:p>
            <a:pPr fontAlgn="base">
              <a:buFont typeface="Arial" panose="020B0604020202020204" pitchFamily="34" charset="0"/>
              <a:buChar char="•"/>
            </a:pPr>
            <a:r>
              <a:rPr lang="en-US" b="0" i="0" dirty="0" smtClean="0">
                <a:solidFill>
                  <a:srgbClr val="273239"/>
                </a:solidFill>
                <a:effectLst/>
                <a:latin typeface="Nunito"/>
              </a:rPr>
              <a:t>When there is a huge number of data that needs to be loaded into the </a:t>
            </a:r>
            <a:r>
              <a:rPr lang="en-US" b="0" i="0" u="sng" dirty="0" smtClean="0">
                <a:solidFill>
                  <a:srgbClr val="357960"/>
                </a:solidFill>
                <a:effectLst/>
                <a:latin typeface="Nunito"/>
              </a:rPr>
              <a:t>database</a:t>
            </a:r>
            <a:r>
              <a:rPr lang="en-US" b="0" i="0" dirty="0" smtClean="0">
                <a:solidFill>
                  <a:srgbClr val="273239"/>
                </a:solidFill>
                <a:effectLst/>
                <a:latin typeface="Nunito"/>
              </a:rPr>
              <a:t> at a time, then this method of file Organization is best suited.</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Heap File Organization</a:t>
            </a:r>
          </a:p>
          <a:p>
            <a:pPr fontAlgn="base">
              <a:buFont typeface="Arial" panose="020B0604020202020204" pitchFamily="34" charset="0"/>
              <a:buChar char="•"/>
            </a:pPr>
            <a:r>
              <a:rPr lang="en-US" b="0" i="0" dirty="0" smtClean="0">
                <a:solidFill>
                  <a:srgbClr val="273239"/>
                </a:solidFill>
                <a:effectLst/>
                <a:latin typeface="Nunito"/>
              </a:rPr>
              <a:t>The problem of unused memory blocks.</a:t>
            </a:r>
          </a:p>
          <a:p>
            <a:pPr fontAlgn="base">
              <a:buFont typeface="Arial" panose="020B0604020202020204" pitchFamily="34" charset="0"/>
              <a:buChar char="•"/>
            </a:pPr>
            <a:r>
              <a:rPr lang="en-US" b="0" i="0" dirty="0" smtClean="0">
                <a:solidFill>
                  <a:srgbClr val="273239"/>
                </a:solidFill>
                <a:effectLst/>
                <a:latin typeface="Nunito"/>
              </a:rPr>
              <a:t>Inefficient for larger databases.</a:t>
            </a:r>
            <a:endParaRPr lang="en-US" b="0" i="0" dirty="0">
              <a:solidFill>
                <a:srgbClr val="273239"/>
              </a:solidFill>
              <a:effectLst/>
              <a:latin typeface="Nunito"/>
            </a:endParaRPr>
          </a:p>
        </p:txBody>
      </p:sp>
    </p:spTree>
    <p:extLst>
      <p:ext uri="{BB962C8B-B14F-4D97-AF65-F5344CB8AC3E}">
        <p14:creationId xmlns:p14="http://schemas.microsoft.com/office/powerpoint/2010/main" val="18700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dirty="0"/>
              <a:t>Clustered File Organization </a:t>
            </a:r>
            <a:r>
              <a:rPr lang="en-US" dirty="0"/>
              <a:t>stores related records from different tables together based on a </a:t>
            </a:r>
            <a:r>
              <a:rPr lang="en-US" b="1" dirty="0"/>
              <a:t>common field</a:t>
            </a:r>
            <a:r>
              <a:rPr lang="en-US" dirty="0"/>
              <a:t>, like a </a:t>
            </a:r>
            <a:r>
              <a:rPr lang="en-US" b="1" dirty="0"/>
              <a:t>foreign key</a:t>
            </a:r>
            <a:r>
              <a:rPr lang="en-US" dirty="0"/>
              <a:t>. This improves query performance for join operations by placing related data physically close on disk</a:t>
            </a:r>
            <a:r>
              <a:rPr lang="en-US" dirty="0" smtClean="0"/>
              <a:t>.</a:t>
            </a:r>
          </a:p>
          <a:p>
            <a:pPr fontAlgn="base"/>
            <a:endParaRPr lang="en-US" b="0" i="0" dirty="0" smtClean="0">
              <a:solidFill>
                <a:srgbClr val="273239"/>
              </a:solidFill>
              <a:effectLst/>
              <a:latin typeface="Nunito"/>
            </a:endParaRPr>
          </a:p>
          <a:p>
            <a:pPr fontAlgn="base"/>
            <a:r>
              <a:rPr lang="en-US" b="1" dirty="0"/>
              <a:t>A clustered file organization </a:t>
            </a:r>
            <a:r>
              <a:rPr lang="en-US" dirty="0"/>
              <a:t>keeps two or more related tables/records in a single file known as a cluster. These files consist of two or more tables within a single data block, and the mapping attributes, defining the relationships between the tables, are stored only once. These contain two or more tables in one data block and the key attributes that are related between the tables are stored only once.</a:t>
            </a:r>
          </a:p>
          <a:p>
            <a:pPr fontAlgn="base"/>
            <a:endParaRPr lang="en-US" dirty="0"/>
          </a:p>
          <a:p>
            <a:pPr fontAlgn="base"/>
            <a:r>
              <a:rPr lang="en-US" dirty="0"/>
              <a:t>This means it is </a:t>
            </a:r>
            <a:r>
              <a:rPr lang="en-US" b="1" dirty="0"/>
              <a:t>cheaper </a:t>
            </a:r>
            <a:r>
              <a:rPr lang="en-US" dirty="0"/>
              <a:t>to search for and retrieve distinct records from different files as they are now integrated and stored in the same </a:t>
            </a:r>
            <a:r>
              <a:rPr lang="en-US" dirty="0" smtClean="0"/>
              <a:t>cluster</a:t>
            </a:r>
            <a:endParaRPr lang="en-US" b="0" i="0" dirty="0">
              <a:solidFill>
                <a:srgbClr val="273239"/>
              </a:solidFill>
              <a:effectLst/>
              <a:latin typeface="Nunito"/>
            </a:endParaRPr>
          </a:p>
        </p:txBody>
      </p:sp>
    </p:spTree>
    <p:extLst>
      <p:ext uri="{BB962C8B-B14F-4D97-AF65-F5344CB8AC3E}">
        <p14:creationId xmlns:p14="http://schemas.microsoft.com/office/powerpoint/2010/main" val="41413337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3" name="Rectangle 2"/>
          <p:cNvSpPr/>
          <p:nvPr/>
        </p:nvSpPr>
        <p:spPr>
          <a:xfrm>
            <a:off x="639650" y="1572630"/>
            <a:ext cx="9032383" cy="4247317"/>
          </a:xfrm>
          <a:prstGeom prst="rect">
            <a:avLst/>
          </a:prstGeom>
        </p:spPr>
        <p:txBody>
          <a:bodyPr wrap="square">
            <a:spAutoFit/>
          </a:bodyPr>
          <a:lstStyle/>
          <a:p>
            <a:pPr lvl="0" fontAlgn="base"/>
            <a:r>
              <a:rPr lang="en-US" b="1" u="sng" dirty="0">
                <a:solidFill>
                  <a:prstClr val="black"/>
                </a:solidFill>
              </a:rPr>
              <a:t>How it </a:t>
            </a:r>
            <a:r>
              <a:rPr lang="en-US" b="1" u="sng" dirty="0" smtClean="0">
                <a:solidFill>
                  <a:prstClr val="black"/>
                </a:solidFill>
              </a:rPr>
              <a:t>works</a:t>
            </a:r>
          </a:p>
          <a:p>
            <a:pPr lvl="0" fontAlgn="base"/>
            <a:endParaRPr lang="en-US" b="1" dirty="0">
              <a:solidFill>
                <a:prstClr val="black"/>
              </a:solidFill>
            </a:endParaRPr>
          </a:p>
          <a:p>
            <a:pPr lvl="0" fontAlgn="base"/>
            <a:endParaRPr lang="en-US" b="1" dirty="0">
              <a:solidFill>
                <a:prstClr val="black"/>
              </a:solidFill>
            </a:endParaRPr>
          </a:p>
          <a:p>
            <a:pPr lvl="0" fontAlgn="base"/>
            <a:r>
              <a:rPr lang="en-US" b="1" dirty="0">
                <a:solidFill>
                  <a:prstClr val="black"/>
                </a:solidFill>
              </a:rPr>
              <a:t>Grouping records: </a:t>
            </a:r>
            <a:r>
              <a:rPr lang="en-US" dirty="0">
                <a:solidFill>
                  <a:prstClr val="black"/>
                </a:solidFill>
              </a:rPr>
              <a:t>Records from different tables that are frequently joined are stored together in the same data block, forming a cluster.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Cluster key</a:t>
            </a:r>
            <a:r>
              <a:rPr lang="en-US" dirty="0">
                <a:solidFill>
                  <a:prstClr val="black"/>
                </a:solidFill>
              </a:rPr>
              <a:t>: The cluster is created around a common column, or "cluster key," which is often a primary key in one table and a foreign key in another.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Sorting: </a:t>
            </a:r>
            <a:r>
              <a:rPr lang="en-US" dirty="0">
                <a:solidFill>
                  <a:prstClr val="black"/>
                </a:solidFill>
              </a:rPr>
              <a:t>The data within the cluster is sorted based on the cluster key, ensuring that records with the same key value are grouped together</a:t>
            </a:r>
            <a:r>
              <a:rPr lang="en-US" b="1" dirty="0">
                <a:solidFill>
                  <a:prstClr val="black"/>
                </a:solidFill>
              </a:rPr>
              <a:t>. </a:t>
            </a:r>
            <a:endParaRPr lang="en-US" b="1" dirty="0" smtClean="0">
              <a:solidFill>
                <a:prstClr val="black"/>
              </a:solidFill>
            </a:endParaRPr>
          </a:p>
          <a:p>
            <a:pPr lvl="0" fontAlgn="base"/>
            <a:endParaRPr lang="en-US" b="1" dirty="0">
              <a:solidFill>
                <a:prstClr val="black"/>
              </a:solidFill>
            </a:endParaRPr>
          </a:p>
          <a:p>
            <a:pPr lvl="0" fontAlgn="base"/>
            <a:r>
              <a:rPr lang="en-US" b="1" dirty="0">
                <a:solidFill>
                  <a:prstClr val="black"/>
                </a:solidFill>
              </a:rPr>
              <a:t>Efficient access: </a:t>
            </a:r>
            <a:r>
              <a:rPr lang="en-US" dirty="0">
                <a:solidFill>
                  <a:prstClr val="black"/>
                </a:solidFill>
              </a:rPr>
              <a:t>When a query needs data from these joined tables, the database can access the relevant records directly from the cluster without having to search and combine data from separate files. </a:t>
            </a:r>
            <a:endParaRPr lang="en-US" dirty="0">
              <a:solidFill>
                <a:srgbClr val="273239"/>
              </a:solidFill>
              <a:latin typeface="Nunito"/>
            </a:endParaRPr>
          </a:p>
        </p:txBody>
      </p:sp>
    </p:spTree>
    <p:extLst>
      <p:ext uri="{BB962C8B-B14F-4D97-AF65-F5344CB8AC3E}">
        <p14:creationId xmlns:p14="http://schemas.microsoft.com/office/powerpoint/2010/main" val="3460391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3693319"/>
          </a:xfrm>
          <a:prstGeom prst="rect">
            <a:avLst/>
          </a:prstGeom>
        </p:spPr>
        <p:txBody>
          <a:bodyPr wrap="square">
            <a:spAutoFit/>
          </a:bodyPr>
          <a:lstStyle/>
          <a:p>
            <a:pPr fontAlgn="base"/>
            <a:r>
              <a:rPr lang="en-US" b="1" dirty="0" smtClean="0"/>
              <a:t>Types </a:t>
            </a:r>
            <a:r>
              <a:rPr lang="en-US" b="1" dirty="0"/>
              <a:t>of Clustered file organization</a:t>
            </a:r>
          </a:p>
          <a:p>
            <a:pPr fontAlgn="base"/>
            <a:r>
              <a:rPr lang="en-US" b="1" dirty="0"/>
              <a:t>1. Indexed Clusters</a:t>
            </a:r>
          </a:p>
          <a:p>
            <a:pPr fontAlgn="base"/>
            <a:r>
              <a:rPr lang="en-US" dirty="0"/>
              <a:t>The clusters are organized, such that records in an indexed cluster are stored in the order of the clustering key. However, for searching and retrieving data, an index is created on the clustering key along with physical sorting as well. When using the range queries and equality searches on the clustering key, this kind of clustering is beneficial</a:t>
            </a:r>
            <a:r>
              <a:rPr lang="en-US" dirty="0" smtClean="0"/>
              <a:t>.</a:t>
            </a:r>
          </a:p>
          <a:p>
            <a:pPr fontAlgn="base"/>
            <a:endParaRPr lang="en-US" dirty="0"/>
          </a:p>
          <a:p>
            <a:pPr fontAlgn="base"/>
            <a:r>
              <a:rPr lang="en-US" b="1" dirty="0"/>
              <a:t>2. Hash Clusters</a:t>
            </a:r>
          </a:p>
          <a:p>
            <a:pPr fontAlgn="base"/>
            <a:r>
              <a:rPr lang="en-US" dirty="0"/>
              <a:t>In a hash cluster, every record is located in accordance with a hash function on the clustering key. By applying it, one can identify records with the same hash value, and therefore identify their physical location. Another great advantage of hash clustering is that by using their clustering key, it is possible to obtain an individual record very quickly. Still, since records are not sorted in a particular order, the algorithm is slower for range queries.</a:t>
            </a:r>
          </a:p>
          <a:p>
            <a:pPr fontAlgn="base"/>
            <a:endParaRPr lang="en-US" dirty="0" smtClean="0"/>
          </a:p>
          <a:p>
            <a:pPr fontAlgn="base"/>
            <a:endParaRPr lang="en-US" b="0" i="0" dirty="0">
              <a:solidFill>
                <a:srgbClr val="273239"/>
              </a:solidFill>
              <a:effectLst/>
              <a:latin typeface="Nunito"/>
            </a:endParaRPr>
          </a:p>
        </p:txBody>
      </p:sp>
    </p:spTree>
    <p:extLst>
      <p:ext uri="{BB962C8B-B14F-4D97-AF65-F5344CB8AC3E}">
        <p14:creationId xmlns:p14="http://schemas.microsoft.com/office/powerpoint/2010/main" val="2910516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4" y="1772657"/>
            <a:ext cx="9585692" cy="4524315"/>
          </a:xfrm>
          <a:prstGeom prst="rect">
            <a:avLst/>
          </a:prstGeom>
        </p:spPr>
        <p:txBody>
          <a:bodyPr wrap="square">
            <a:spAutoFit/>
          </a:bodyPr>
          <a:lstStyle/>
          <a:p>
            <a:pPr fontAlgn="base"/>
            <a:r>
              <a:rPr lang="en-US" b="1" u="sng" dirty="0"/>
              <a:t>Benefits</a:t>
            </a:r>
          </a:p>
          <a:p>
            <a:pPr fontAlgn="base"/>
            <a:endParaRPr lang="en-US" b="1" dirty="0"/>
          </a:p>
          <a:p>
            <a:pPr fontAlgn="base"/>
            <a:r>
              <a:rPr lang="en-US" b="1" dirty="0"/>
              <a:t>Faster queries</a:t>
            </a:r>
            <a:r>
              <a:rPr lang="en-US" dirty="0"/>
              <a:t>: Significantly speeds up queries that involve joining the clustered tables, as related data is physically co-located. </a:t>
            </a:r>
          </a:p>
          <a:p>
            <a:pPr fontAlgn="base"/>
            <a:r>
              <a:rPr lang="en-US" b="1" dirty="0"/>
              <a:t>Reduced search cost: </a:t>
            </a:r>
            <a:r>
              <a:rPr lang="en-US" dirty="0"/>
              <a:t>Eliminates the need for the database to search and access multiple files for a single query. </a:t>
            </a:r>
          </a:p>
          <a:p>
            <a:pPr fontAlgn="base"/>
            <a:r>
              <a:rPr lang="en-US" dirty="0"/>
              <a:t>Direct operations: Allows for direct insertion, update, and deletion of records through join operations</a:t>
            </a:r>
            <a:r>
              <a:rPr lang="en-US" b="1" dirty="0" smtClean="0"/>
              <a:t>.</a:t>
            </a:r>
          </a:p>
          <a:p>
            <a:pPr fontAlgn="base"/>
            <a:endParaRPr lang="en-US" b="1" u="sng" dirty="0" smtClean="0"/>
          </a:p>
          <a:p>
            <a:pPr fontAlgn="base"/>
            <a:r>
              <a:rPr lang="en-US" b="1" u="sng" dirty="0" smtClean="0"/>
              <a:t>Example</a:t>
            </a:r>
            <a:endParaRPr lang="en-US" b="1" u="sng" dirty="0"/>
          </a:p>
          <a:p>
            <a:pPr fontAlgn="base"/>
            <a:r>
              <a:rPr lang="en-US" dirty="0"/>
              <a:t>Imagine you have two tables: </a:t>
            </a:r>
            <a:r>
              <a:rPr lang="en-US" b="1" dirty="0"/>
              <a:t>Departments</a:t>
            </a:r>
            <a:r>
              <a:rPr lang="en-US" dirty="0"/>
              <a:t> and </a:t>
            </a:r>
            <a:r>
              <a:rPr lang="en-US" b="1" dirty="0"/>
              <a:t>Employees</a:t>
            </a:r>
            <a:r>
              <a:rPr lang="en-US" dirty="0"/>
              <a:t>. Employees are frequently joined with their department information. By using clustered file organization on the </a:t>
            </a:r>
            <a:r>
              <a:rPr lang="en-US" dirty="0" err="1"/>
              <a:t>department_id</a:t>
            </a:r>
            <a:r>
              <a:rPr lang="en-US" dirty="0"/>
              <a:t> (the cluster key), the records for employees in the 'Sales' department could be stored together in a cluster, and all records for the 'HR' department could be stored in a separate cluster. This is more efficient than storing the two tables separately and then performing a join operation every time you need to retrieve employee and department information together. </a:t>
            </a:r>
            <a:endParaRPr lang="en-US" i="0" dirty="0">
              <a:solidFill>
                <a:srgbClr val="273239"/>
              </a:solidFill>
              <a:effectLst/>
              <a:latin typeface="Nunito"/>
            </a:endParaRPr>
          </a:p>
        </p:txBody>
      </p:sp>
    </p:spTree>
    <p:extLst>
      <p:ext uri="{BB962C8B-B14F-4D97-AF65-F5344CB8AC3E}">
        <p14:creationId xmlns:p14="http://schemas.microsoft.com/office/powerpoint/2010/main" val="2214863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1477328"/>
          </a:xfrm>
          <a:prstGeom prst="rect">
            <a:avLst/>
          </a:prstGeom>
        </p:spPr>
        <p:txBody>
          <a:bodyPr wrap="square">
            <a:spAutoFit/>
          </a:bodyPr>
          <a:lstStyle/>
          <a:p>
            <a:pPr fontAlgn="base"/>
            <a:r>
              <a:rPr lang="en-US" b="1" dirty="0"/>
              <a:t>ISAM (Indexed Sequential Access Method)</a:t>
            </a:r>
            <a:r>
              <a:rPr lang="en-US" dirty="0"/>
              <a:t> is a file organization technique that allows records to be accessed both </a:t>
            </a:r>
            <a:r>
              <a:rPr lang="en-US" u="sng" dirty="0"/>
              <a:t>sequentially and randomly</a:t>
            </a:r>
            <a:r>
              <a:rPr lang="en-US" dirty="0"/>
              <a:t>. It uses a pre-structured index, which is a sorted list of keys, to map directly to the location of records in a data file, enabling fast retrieval. While ISAM was originally developed for disk storage, it is used in database management systems to provide a balance of sequential and direct access for applications with relatively static data. </a:t>
            </a:r>
            <a:endParaRPr lang="en-US" i="0" dirty="0">
              <a:solidFill>
                <a:srgbClr val="273239"/>
              </a:solidFill>
              <a:effectLst/>
              <a:latin typeface="Nunito"/>
            </a:endParaRPr>
          </a:p>
        </p:txBody>
      </p:sp>
    </p:spTree>
    <p:extLst>
      <p:ext uri="{BB962C8B-B14F-4D97-AF65-F5344CB8AC3E}">
        <p14:creationId xmlns:p14="http://schemas.microsoft.com/office/powerpoint/2010/main" val="286362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416320"/>
          </a:xfrm>
          <a:prstGeom prst="rect">
            <a:avLst/>
          </a:prstGeom>
        </p:spPr>
        <p:txBody>
          <a:bodyPr wrap="square">
            <a:spAutoFit/>
          </a:bodyPr>
          <a:lstStyle/>
          <a:p>
            <a:pPr fontAlgn="base"/>
            <a:r>
              <a:rPr lang="en-US" b="1" dirty="0"/>
              <a:t>How ISAM </a:t>
            </a:r>
            <a:r>
              <a:rPr lang="en-US" b="1" dirty="0" smtClean="0"/>
              <a:t>works</a:t>
            </a:r>
          </a:p>
          <a:p>
            <a:pPr fontAlgn="base"/>
            <a:endParaRPr lang="en-US" b="1" dirty="0"/>
          </a:p>
          <a:p>
            <a:pPr fontAlgn="base"/>
            <a:r>
              <a:rPr lang="en-US" b="1" dirty="0"/>
              <a:t>Data File:</a:t>
            </a:r>
            <a:r>
              <a:rPr lang="en-US" dirty="0"/>
              <a:t> Records are stored in the data file in a sorted order based on a primary key</a:t>
            </a:r>
            <a:r>
              <a:rPr lang="en-US" dirty="0" smtClean="0"/>
              <a:t>.</a:t>
            </a:r>
          </a:p>
          <a:p>
            <a:pPr fontAlgn="base"/>
            <a:endParaRPr lang="en-US" dirty="0"/>
          </a:p>
          <a:p>
            <a:pPr fontAlgn="base"/>
            <a:r>
              <a:rPr lang="en-US" b="1" dirty="0"/>
              <a:t>Index File: </a:t>
            </a:r>
            <a:r>
              <a:rPr lang="en-US" dirty="0"/>
              <a:t>A separate index file contains entries that are also sorted by the key. Each index entry is a pointer to the physical location (address) of the corresponding record or block in the data file</a:t>
            </a:r>
            <a:r>
              <a:rPr lang="en-US" dirty="0" smtClean="0"/>
              <a:t>.</a:t>
            </a:r>
          </a:p>
          <a:p>
            <a:pPr fontAlgn="base"/>
            <a:endParaRPr lang="en-US" dirty="0"/>
          </a:p>
          <a:p>
            <a:pPr fontAlgn="base"/>
            <a:r>
              <a:rPr lang="en-US" b="1" dirty="0"/>
              <a:t>Overflow Area:</a:t>
            </a:r>
            <a:r>
              <a:rPr lang="en-US" dirty="0"/>
              <a:t> A separate area handles new records that are inserted and don't fit into the primary data area, also organized in a sorted manner</a:t>
            </a:r>
            <a:r>
              <a:rPr lang="en-US" dirty="0" smtClean="0"/>
              <a:t>.</a:t>
            </a:r>
          </a:p>
          <a:p>
            <a:pPr fontAlgn="base"/>
            <a:endParaRPr lang="en-US" dirty="0"/>
          </a:p>
          <a:p>
            <a:pPr fontAlgn="base"/>
            <a:r>
              <a:rPr lang="en-US" b="1" dirty="0"/>
              <a:t>Searching:</a:t>
            </a:r>
            <a:r>
              <a:rPr lang="en-US" dirty="0"/>
              <a:t> To find a record, the system first searches the index to quickly locate the correct data block address, and then it retrieves the record from that location. </a:t>
            </a:r>
            <a:endParaRPr lang="en-US" i="0" dirty="0">
              <a:solidFill>
                <a:srgbClr val="273239"/>
              </a:solidFill>
              <a:effectLst/>
              <a:latin typeface="Nunito"/>
            </a:endParaRPr>
          </a:p>
        </p:txBody>
      </p:sp>
    </p:spTree>
    <p:extLst>
      <p:ext uri="{BB962C8B-B14F-4D97-AF65-F5344CB8AC3E}">
        <p14:creationId xmlns:p14="http://schemas.microsoft.com/office/powerpoint/2010/main" val="23219458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693319"/>
          </a:xfrm>
          <a:prstGeom prst="rect">
            <a:avLst/>
          </a:prstGeom>
        </p:spPr>
        <p:txBody>
          <a:bodyPr wrap="square">
            <a:spAutoFit/>
          </a:bodyPr>
          <a:lstStyle/>
          <a:p>
            <a:pPr fontAlgn="base"/>
            <a:r>
              <a:rPr lang="en-US" b="1" dirty="0"/>
              <a:t>Working Mechanism of ISAM</a:t>
            </a:r>
          </a:p>
          <a:p>
            <a:pPr fontAlgn="base"/>
            <a:r>
              <a:rPr lang="en-US" b="1" dirty="0"/>
              <a:t>Searching: </a:t>
            </a:r>
            <a:r>
              <a:rPr lang="en-US" dirty="0"/>
              <a:t>When searching for a record, the system first looks in the index to find the disk block that contains the record. Then, that specific block is fetched to retrieve the record. This usually takes two disk I/O operations</a:t>
            </a:r>
            <a:r>
              <a:rPr lang="en-US" dirty="0" smtClean="0"/>
              <a:t>.</a:t>
            </a:r>
          </a:p>
          <a:p>
            <a:pPr fontAlgn="base"/>
            <a:endParaRPr lang="en-US" dirty="0"/>
          </a:p>
          <a:p>
            <a:pPr fontAlgn="base"/>
            <a:r>
              <a:rPr lang="en-US" b="1" dirty="0"/>
              <a:t>Insertion</a:t>
            </a:r>
            <a:r>
              <a:rPr lang="en-US" dirty="0"/>
              <a:t>: If a new record needs to be inserted, it is placed in its correct sorted position. If the block is full, the record is placed in the overflow area</a:t>
            </a:r>
            <a:r>
              <a:rPr lang="en-US" dirty="0" smtClean="0"/>
              <a:t>.</a:t>
            </a:r>
          </a:p>
          <a:p>
            <a:pPr fontAlgn="base"/>
            <a:endParaRPr lang="en-US" dirty="0"/>
          </a:p>
          <a:p>
            <a:pPr fontAlgn="base"/>
            <a:r>
              <a:rPr lang="en-US" b="1" dirty="0"/>
              <a:t>Deletion: </a:t>
            </a:r>
            <a:r>
              <a:rPr lang="en-US" dirty="0"/>
              <a:t>Deleting a record involves marking it as deleted. The space is then reclaimed during a subsequent reorganization of the data file</a:t>
            </a:r>
            <a:r>
              <a:rPr lang="en-US" dirty="0" smtClean="0"/>
              <a:t>.</a:t>
            </a:r>
          </a:p>
          <a:p>
            <a:pPr fontAlgn="base"/>
            <a:endParaRPr lang="en-US" dirty="0"/>
          </a:p>
          <a:p>
            <a:pPr fontAlgn="base"/>
            <a:r>
              <a:rPr lang="en-US" b="1" dirty="0"/>
              <a:t>Updating</a:t>
            </a:r>
            <a:r>
              <a:rPr lang="en-US" dirty="0"/>
              <a:t>: Updating a record involves either modifying it if the key is not changed, or deleting and re-inserting it if the key is modified.</a:t>
            </a:r>
            <a:endParaRPr lang="en-US" i="0" dirty="0">
              <a:solidFill>
                <a:srgbClr val="273239"/>
              </a:solidFill>
              <a:effectLst/>
              <a:latin typeface="Nunito"/>
            </a:endParaRPr>
          </a:p>
        </p:txBody>
      </p:sp>
    </p:spTree>
    <p:extLst>
      <p:ext uri="{BB962C8B-B14F-4D97-AF65-F5344CB8AC3E}">
        <p14:creationId xmlns:p14="http://schemas.microsoft.com/office/powerpoint/2010/main" val="35241222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970318"/>
          </a:xfrm>
          <a:prstGeom prst="rect">
            <a:avLst/>
          </a:prstGeom>
        </p:spPr>
        <p:txBody>
          <a:bodyPr wrap="square">
            <a:spAutoFit/>
          </a:bodyPr>
          <a:lstStyle/>
          <a:p>
            <a:pPr fontAlgn="base"/>
            <a:r>
              <a:rPr lang="en-US" b="1" u="sng" dirty="0"/>
              <a:t>Advantages of ISAM</a:t>
            </a:r>
          </a:p>
          <a:p>
            <a:pPr fontAlgn="base"/>
            <a:r>
              <a:rPr lang="en-US" b="1" dirty="0"/>
              <a:t>Fast retrieval: </a:t>
            </a:r>
            <a:r>
              <a:rPr lang="en-US" dirty="0"/>
              <a:t>ISAM provides fast random access by using the index to directly locate records, which is much quicker than reading through an entire file.</a:t>
            </a:r>
          </a:p>
          <a:p>
            <a:pPr fontAlgn="base"/>
            <a:r>
              <a:rPr lang="en-US" b="1" dirty="0"/>
              <a:t>Supports range and partial searches: </a:t>
            </a:r>
            <a:r>
              <a:rPr lang="en-US" dirty="0"/>
              <a:t>The sorted nature of the index allows for efficient searching of ranges of data or records that start with a specific string (partial search). </a:t>
            </a:r>
            <a:endParaRPr lang="en-US" dirty="0" smtClean="0"/>
          </a:p>
          <a:p>
            <a:pPr fontAlgn="base"/>
            <a:endParaRPr lang="en-US" dirty="0"/>
          </a:p>
          <a:p>
            <a:pPr fontAlgn="base"/>
            <a:r>
              <a:rPr lang="en-US" b="1" u="sng" dirty="0"/>
              <a:t>Disadvantages of ISAM</a:t>
            </a:r>
          </a:p>
          <a:p>
            <a:pPr fontAlgn="base"/>
            <a:r>
              <a:rPr lang="en-US" b="1" dirty="0"/>
              <a:t>Static structure: </a:t>
            </a:r>
            <a:r>
              <a:rPr lang="en-US" dirty="0"/>
              <a:t>The static nature of the index means that the structure of the index tree remains fixed after creation.</a:t>
            </a:r>
          </a:p>
          <a:p>
            <a:pPr fontAlgn="base"/>
            <a:r>
              <a:rPr lang="en-US" b="1" dirty="0"/>
              <a:t>Performance degradation</a:t>
            </a:r>
            <a:r>
              <a:rPr lang="en-US" dirty="0"/>
              <a:t>: Frequent insertions, deletions, and updates can create "overflow chains," which are scattered records that need to be searched sequentially and can significantly slow down performance.</a:t>
            </a:r>
          </a:p>
          <a:p>
            <a:pPr fontAlgn="base"/>
            <a:r>
              <a:rPr lang="en-US" b="1" dirty="0"/>
              <a:t>Inefficient for dynamic data: </a:t>
            </a:r>
            <a:r>
              <a:rPr lang="en-US" dirty="0"/>
              <a:t>Because of the overflow chain issue, ISAM is not ideal for databases that undergo constant and rapid changes. </a:t>
            </a:r>
            <a:endParaRPr lang="en-US" i="0" dirty="0">
              <a:solidFill>
                <a:srgbClr val="273239"/>
              </a:solidFill>
              <a:effectLst/>
              <a:latin typeface="Nunito"/>
            </a:endParaRPr>
          </a:p>
        </p:txBody>
      </p:sp>
    </p:spTree>
    <p:extLst>
      <p:ext uri="{BB962C8B-B14F-4D97-AF65-F5344CB8AC3E}">
        <p14:creationId xmlns:p14="http://schemas.microsoft.com/office/powerpoint/2010/main" val="12206293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2862322"/>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dirty="0" smtClean="0">
                <a:solidFill>
                  <a:srgbClr val="273239"/>
                </a:solidFill>
                <a:latin typeface="Nunito"/>
              </a:rPr>
              <a:t>An </a:t>
            </a:r>
            <a:r>
              <a:rPr lang="en-US" dirty="0">
                <a:solidFill>
                  <a:srgbClr val="273239"/>
                </a:solidFill>
                <a:latin typeface="Nunito"/>
              </a:rPr>
              <a:t>ISAM example is a simplified library database with a data file of books sorted by ISBN and a separate index file. The index file contains each ISBN and a pointer to the block address in the data file where the book's information is stored. To find a specific book, the system first uses the index to find the correct block address in the data file, then retrieves the data from that location. </a:t>
            </a:r>
            <a:endParaRPr lang="en-US" dirty="0" smtClean="0">
              <a:solidFill>
                <a:srgbClr val="273239"/>
              </a:solidFill>
              <a:latin typeface="Nunito"/>
            </a:endParaRP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29198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5078313"/>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b="1" dirty="0"/>
              <a:t>Data File</a:t>
            </a:r>
            <a:r>
              <a:rPr lang="en-US" dirty="0"/>
              <a:t>: Contains book records, sorted by ISBN</a:t>
            </a:r>
            <a:endParaRPr lang="en-US" dirty="0">
              <a:solidFill>
                <a:srgbClr val="273239"/>
              </a:solidFill>
              <a:latin typeface="Nunito"/>
            </a:endParaRPr>
          </a:p>
          <a:p>
            <a:pPr fontAlgn="base"/>
            <a:r>
              <a:rPr lang="en-US" dirty="0" smtClean="0">
                <a:solidFill>
                  <a:srgbClr val="273239"/>
                </a:solidFill>
                <a:latin typeface="Nunito"/>
              </a:rPr>
              <a:t>| 123 </a:t>
            </a:r>
            <a:r>
              <a:rPr lang="en-US" dirty="0">
                <a:solidFill>
                  <a:srgbClr val="273239"/>
                </a:solidFill>
                <a:latin typeface="Nunito"/>
              </a:rPr>
              <a:t>| Book A |</a:t>
            </a:r>
          </a:p>
          <a:p>
            <a:pPr fontAlgn="base"/>
            <a:r>
              <a:rPr lang="en-US" dirty="0">
                <a:solidFill>
                  <a:srgbClr val="273239"/>
                </a:solidFill>
                <a:latin typeface="Nunito"/>
              </a:rPr>
              <a:t>| 234 | Book B |</a:t>
            </a:r>
          </a:p>
          <a:p>
            <a:pPr fontAlgn="base"/>
            <a:r>
              <a:rPr lang="en-US" dirty="0">
                <a:solidFill>
                  <a:srgbClr val="273239"/>
                </a:solidFill>
                <a:latin typeface="Nunito"/>
              </a:rPr>
              <a:t>| 345 | Book C |</a:t>
            </a:r>
          </a:p>
          <a:p>
            <a:pPr fontAlgn="base"/>
            <a:r>
              <a:rPr lang="en-US" dirty="0">
                <a:solidFill>
                  <a:srgbClr val="273239"/>
                </a:solidFill>
                <a:latin typeface="Nunito"/>
              </a:rPr>
              <a:t>| 456 | Book D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r>
              <a:rPr lang="en-US" b="1" dirty="0">
                <a:solidFill>
                  <a:srgbClr val="273239"/>
                </a:solidFill>
                <a:latin typeface="Nunito"/>
              </a:rPr>
              <a:t>Index File</a:t>
            </a:r>
            <a:r>
              <a:rPr lang="en-US" dirty="0">
                <a:solidFill>
                  <a:srgbClr val="273239"/>
                </a:solidFill>
                <a:latin typeface="Nunito"/>
              </a:rPr>
              <a:t>: Maps ISBNs to block addresses in the data file.</a:t>
            </a:r>
          </a:p>
          <a:p>
            <a:pPr fontAlgn="base"/>
            <a:r>
              <a:rPr lang="en-US" dirty="0">
                <a:solidFill>
                  <a:srgbClr val="273239"/>
                </a:solidFill>
                <a:latin typeface="Nunito"/>
              </a:rPr>
              <a:t>| ISBN | Block Address |</a:t>
            </a:r>
          </a:p>
          <a:p>
            <a:pPr fontAlgn="base"/>
            <a:r>
              <a:rPr lang="en-US" dirty="0" smtClean="0">
                <a:solidFill>
                  <a:srgbClr val="273239"/>
                </a:solidFill>
                <a:latin typeface="Nunito"/>
              </a:rPr>
              <a:t>| </a:t>
            </a:r>
            <a:r>
              <a:rPr lang="en-US" dirty="0">
                <a:solidFill>
                  <a:srgbClr val="273239"/>
                </a:solidFill>
                <a:latin typeface="Nunito"/>
              </a:rPr>
              <a:t>123 </a:t>
            </a:r>
            <a:r>
              <a:rPr lang="en-US" dirty="0" smtClean="0">
                <a:solidFill>
                  <a:srgbClr val="273239"/>
                </a:solidFill>
                <a:latin typeface="Nunito"/>
              </a:rPr>
              <a:t>  | </a:t>
            </a:r>
            <a:r>
              <a:rPr lang="en-US" dirty="0">
                <a:solidFill>
                  <a:srgbClr val="273239"/>
                </a:solidFill>
                <a:latin typeface="Nunito"/>
              </a:rPr>
              <a:t>1 |</a:t>
            </a:r>
          </a:p>
          <a:p>
            <a:pPr fontAlgn="base"/>
            <a:r>
              <a:rPr lang="en-US" dirty="0">
                <a:solidFill>
                  <a:srgbClr val="273239"/>
                </a:solidFill>
                <a:latin typeface="Nunito"/>
              </a:rPr>
              <a:t>| </a:t>
            </a:r>
            <a:r>
              <a:rPr lang="en-US" dirty="0" smtClean="0">
                <a:solidFill>
                  <a:srgbClr val="273239"/>
                </a:solidFill>
                <a:latin typeface="Nunito"/>
              </a:rPr>
              <a:t>234   </a:t>
            </a:r>
            <a:r>
              <a:rPr lang="en-US" dirty="0">
                <a:solidFill>
                  <a:srgbClr val="273239"/>
                </a:solidFill>
                <a:latin typeface="Nunito"/>
              </a:rPr>
              <a:t>| 2 |</a:t>
            </a:r>
          </a:p>
          <a:p>
            <a:pPr fontAlgn="base"/>
            <a:r>
              <a:rPr lang="en-US" dirty="0">
                <a:solidFill>
                  <a:srgbClr val="273239"/>
                </a:solidFill>
                <a:latin typeface="Nunito"/>
              </a:rPr>
              <a:t>| </a:t>
            </a:r>
            <a:r>
              <a:rPr lang="en-US" dirty="0" smtClean="0">
                <a:solidFill>
                  <a:srgbClr val="273239"/>
                </a:solidFill>
                <a:latin typeface="Nunito"/>
              </a:rPr>
              <a:t>345   </a:t>
            </a:r>
            <a:r>
              <a:rPr lang="en-US" dirty="0">
                <a:solidFill>
                  <a:srgbClr val="273239"/>
                </a:solidFill>
                <a:latin typeface="Nunito"/>
              </a:rPr>
              <a:t>| 3 |</a:t>
            </a:r>
          </a:p>
          <a:p>
            <a:pPr fontAlgn="base"/>
            <a:r>
              <a:rPr lang="en-US" dirty="0">
                <a:solidFill>
                  <a:srgbClr val="273239"/>
                </a:solidFill>
                <a:latin typeface="Nunito"/>
              </a:rPr>
              <a:t>| 456 </a:t>
            </a:r>
            <a:r>
              <a:rPr lang="en-US" dirty="0" smtClean="0">
                <a:solidFill>
                  <a:srgbClr val="273239"/>
                </a:solidFill>
                <a:latin typeface="Nunito"/>
              </a:rPr>
              <a:t>  | </a:t>
            </a:r>
            <a:r>
              <a:rPr lang="en-US" dirty="0">
                <a:solidFill>
                  <a:srgbClr val="273239"/>
                </a:solidFill>
                <a:latin typeface="Nunito"/>
              </a:rPr>
              <a:t>4 |</a:t>
            </a: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0646287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2165</Words>
  <Application>Microsoft Office PowerPoint</Application>
  <PresentationFormat>Widescreen</PresentationFormat>
  <Paragraphs>218</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Nunito</vt:lpstr>
      <vt:lpstr>Poppins</vt:lpstr>
      <vt:lpstr>Source Sans 3</vt:lpstr>
      <vt:lpstr>Office Theme</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dc:title>
  <dc:creator>HP</dc:creator>
  <cp:lastModifiedBy>LJMCA</cp:lastModifiedBy>
  <cp:revision>37</cp:revision>
  <dcterms:created xsi:type="dcterms:W3CDTF">2025-11-15T06:26:20Z</dcterms:created>
  <dcterms:modified xsi:type="dcterms:W3CDTF">2025-11-19T04:24:29Z</dcterms:modified>
</cp:coreProperties>
</file>